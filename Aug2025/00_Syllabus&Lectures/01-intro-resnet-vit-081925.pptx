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73" r:id="rId4"/>
    <p:sldId id="258" r:id="rId5"/>
    <p:sldId id="259" r:id="rId6"/>
    <p:sldId id="260" r:id="rId7"/>
    <p:sldId id="261" r:id="rId8"/>
    <p:sldId id="257" r:id="rId9"/>
    <p:sldId id="264" r:id="rId10"/>
    <p:sldId id="269" r:id="rId11"/>
    <p:sldId id="270" r:id="rId12"/>
    <p:sldId id="271" r:id="rId13"/>
    <p:sldId id="272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14295D-8607-7AC8-76DC-7562200246DA}" v="144" dt="2025-08-18T22:34:11.339"/>
    <p1510:client id="{E8175907-F13C-45DB-424B-5E8F1F835DEB}" v="15" dt="2025-08-19T17:05:12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 Nam Lim" userId="S::se574370@ucf.edu::09ba2f5e-38f6-4b79-9320-a7ad42dda48c" providerId="AD" clId="Web-{E8175907-F13C-45DB-424B-5E8F1F835DEB}"/>
    <pc:docChg chg="modSld">
      <pc:chgData name="Ser Nam Lim" userId="S::se574370@ucf.edu::09ba2f5e-38f6-4b79-9320-a7ad42dda48c" providerId="AD" clId="Web-{E8175907-F13C-45DB-424B-5E8F1F835DEB}" dt="2025-08-19T17:05:12.914" v="14" actId="20577"/>
      <pc:docMkLst>
        <pc:docMk/>
      </pc:docMkLst>
      <pc:sldChg chg="modSp">
        <pc:chgData name="Ser Nam Lim" userId="S::se574370@ucf.edu::09ba2f5e-38f6-4b79-9320-a7ad42dda48c" providerId="AD" clId="Web-{E8175907-F13C-45DB-424B-5E8F1F835DEB}" dt="2025-08-19T17:05:12.914" v="14" actId="20577"/>
        <pc:sldMkLst>
          <pc:docMk/>
          <pc:sldMk cId="3952276273" sldId="273"/>
        </pc:sldMkLst>
        <pc:spChg chg="mod">
          <ac:chgData name="Ser Nam Lim" userId="S::se574370@ucf.edu::09ba2f5e-38f6-4b79-9320-a7ad42dda48c" providerId="AD" clId="Web-{E8175907-F13C-45DB-424B-5E8F1F835DEB}" dt="2025-08-19T17:05:12.914" v="14" actId="20577"/>
          <ac:spMkLst>
            <pc:docMk/>
            <pc:sldMk cId="3952276273" sldId="273"/>
            <ac:spMk id="4" creationId="{FB4DB504-8A94-B1F4-22CB-BB1AF97102F0}"/>
          </ac:spMkLst>
        </pc:spChg>
      </pc:sldChg>
    </pc:docChg>
  </pc:docChgLst>
  <pc:docChgLst>
    <pc:chgData name="Ser Nam Lim" userId="S::se574370@ucf.edu::09ba2f5e-38f6-4b79-9320-a7ad42dda48c" providerId="AD" clId="Web-{AF14295D-8607-7AC8-76DC-7562200246DA}"/>
    <pc:docChg chg="addSld delSld modSld">
      <pc:chgData name="Ser Nam Lim" userId="S::se574370@ucf.edu::09ba2f5e-38f6-4b79-9320-a7ad42dda48c" providerId="AD" clId="Web-{AF14295D-8607-7AC8-76DC-7562200246DA}" dt="2025-08-18T22:34:11.339" v="139" actId="20577"/>
      <pc:docMkLst>
        <pc:docMk/>
      </pc:docMkLst>
      <pc:sldChg chg="modSp">
        <pc:chgData name="Ser Nam Lim" userId="S::se574370@ucf.edu::09ba2f5e-38f6-4b79-9320-a7ad42dda48c" providerId="AD" clId="Web-{AF14295D-8607-7AC8-76DC-7562200246DA}" dt="2025-08-18T19:23:33.387" v="16" actId="20577"/>
        <pc:sldMkLst>
          <pc:docMk/>
          <pc:sldMk cId="109857222" sldId="256"/>
        </pc:sldMkLst>
        <pc:spChg chg="mod">
          <ac:chgData name="Ser Nam Lim" userId="S::se574370@ucf.edu::09ba2f5e-38f6-4b79-9320-a7ad42dda48c" providerId="AD" clId="Web-{AF14295D-8607-7AC8-76DC-7562200246DA}" dt="2025-08-18T19:23:33.387" v="1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er Nam Lim" userId="S::se574370@ucf.edu::09ba2f5e-38f6-4b79-9320-a7ad42dda48c" providerId="AD" clId="Web-{AF14295D-8607-7AC8-76DC-7562200246DA}" dt="2025-08-18T19:23:29.668" v="1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new del">
        <pc:chgData name="Ser Nam Lim" userId="S::se574370@ucf.edu::09ba2f5e-38f6-4b79-9320-a7ad42dda48c" providerId="AD" clId="Web-{AF14295D-8607-7AC8-76DC-7562200246DA}" dt="2025-08-18T19:41:17.020" v="27"/>
        <pc:sldMkLst>
          <pc:docMk/>
          <pc:sldMk cId="1632954692" sldId="257"/>
        </pc:sldMkLst>
      </pc:sldChg>
      <pc:sldChg chg="add">
        <pc:chgData name="Ser Nam Lim" userId="S::se574370@ucf.edu::09ba2f5e-38f6-4b79-9320-a7ad42dda48c" providerId="AD" clId="Web-{AF14295D-8607-7AC8-76DC-7562200246DA}" dt="2025-08-18T19:41:41.834" v="28"/>
        <pc:sldMkLst>
          <pc:docMk/>
          <pc:sldMk cId="3575214209" sldId="257"/>
        </pc:sldMkLst>
      </pc:sldChg>
      <pc:sldChg chg="add">
        <pc:chgData name="Ser Nam Lim" userId="S::se574370@ucf.edu::09ba2f5e-38f6-4b79-9320-a7ad42dda48c" providerId="AD" clId="Web-{AF14295D-8607-7AC8-76DC-7562200246DA}" dt="2025-08-18T19:40:46.957" v="18"/>
        <pc:sldMkLst>
          <pc:docMk/>
          <pc:sldMk cId="3854186436" sldId="258"/>
        </pc:sldMkLst>
      </pc:sldChg>
      <pc:sldChg chg="add">
        <pc:chgData name="Ser Nam Lim" userId="S::se574370@ucf.edu::09ba2f5e-38f6-4b79-9320-a7ad42dda48c" providerId="AD" clId="Web-{AF14295D-8607-7AC8-76DC-7562200246DA}" dt="2025-08-18T19:40:47.098" v="19"/>
        <pc:sldMkLst>
          <pc:docMk/>
          <pc:sldMk cId="290751688" sldId="259"/>
        </pc:sldMkLst>
      </pc:sldChg>
      <pc:sldChg chg="add">
        <pc:chgData name="Ser Nam Lim" userId="S::se574370@ucf.edu::09ba2f5e-38f6-4b79-9320-a7ad42dda48c" providerId="AD" clId="Web-{AF14295D-8607-7AC8-76DC-7562200246DA}" dt="2025-08-18T19:40:47.207" v="20"/>
        <pc:sldMkLst>
          <pc:docMk/>
          <pc:sldMk cId="4120938078" sldId="260"/>
        </pc:sldMkLst>
      </pc:sldChg>
      <pc:sldChg chg="add">
        <pc:chgData name="Ser Nam Lim" userId="S::se574370@ucf.edu::09ba2f5e-38f6-4b79-9320-a7ad42dda48c" providerId="AD" clId="Web-{AF14295D-8607-7AC8-76DC-7562200246DA}" dt="2025-08-18T19:40:47.379" v="21"/>
        <pc:sldMkLst>
          <pc:docMk/>
          <pc:sldMk cId="718878014" sldId="261"/>
        </pc:sldMkLst>
      </pc:sldChg>
      <pc:sldChg chg="add">
        <pc:chgData name="Ser Nam Lim" userId="S::se574370@ucf.edu::09ba2f5e-38f6-4b79-9320-a7ad42dda48c" providerId="AD" clId="Web-{AF14295D-8607-7AC8-76DC-7562200246DA}" dt="2025-08-18T19:41:43.162" v="34"/>
        <pc:sldMkLst>
          <pc:docMk/>
          <pc:sldMk cId="2472227241" sldId="262"/>
        </pc:sldMkLst>
      </pc:sldChg>
      <pc:sldChg chg="modSp add del">
        <pc:chgData name="Ser Nam Lim" userId="S::se574370@ucf.edu::09ba2f5e-38f6-4b79-9320-a7ad42dda48c" providerId="AD" clId="Web-{AF14295D-8607-7AC8-76DC-7562200246DA}" dt="2025-08-18T19:41:13.786" v="26"/>
        <pc:sldMkLst>
          <pc:docMk/>
          <pc:sldMk cId="3199595338" sldId="262"/>
        </pc:sldMkLst>
        <pc:spChg chg="mod">
          <ac:chgData name="Ser Nam Lim" userId="S::se574370@ucf.edu::09ba2f5e-38f6-4b79-9320-a7ad42dda48c" providerId="AD" clId="Web-{AF14295D-8607-7AC8-76DC-7562200246DA}" dt="2025-08-18T19:41:08.583" v="25" actId="20577"/>
          <ac:spMkLst>
            <pc:docMk/>
            <pc:sldMk cId="3199595338" sldId="262"/>
            <ac:spMk id="2" creationId="{C40E2297-2CD6-3F6A-239C-F641DE85DA55}"/>
          </ac:spMkLst>
        </pc:spChg>
      </pc:sldChg>
      <pc:sldChg chg="modSp add">
        <pc:chgData name="Ser Nam Lim" userId="S::se574370@ucf.edu::09ba2f5e-38f6-4b79-9320-a7ad42dda48c" providerId="AD" clId="Web-{AF14295D-8607-7AC8-76DC-7562200246DA}" dt="2025-08-18T20:42:32.716" v="100" actId="20577"/>
        <pc:sldMkLst>
          <pc:docMk/>
          <pc:sldMk cId="401051076" sldId="263"/>
        </pc:sldMkLst>
        <pc:spChg chg="mod">
          <ac:chgData name="Ser Nam Lim" userId="S::se574370@ucf.edu::09ba2f5e-38f6-4b79-9320-a7ad42dda48c" providerId="AD" clId="Web-{AF14295D-8607-7AC8-76DC-7562200246DA}" dt="2025-08-18T19:41:58.772" v="37" actId="20577"/>
          <ac:spMkLst>
            <pc:docMk/>
            <pc:sldMk cId="401051076" sldId="263"/>
            <ac:spMk id="2" creationId="{C40E2297-2CD6-3F6A-239C-F641DE85DA55}"/>
          </ac:spMkLst>
        </pc:spChg>
        <pc:spChg chg="mod">
          <ac:chgData name="Ser Nam Lim" userId="S::se574370@ucf.edu::09ba2f5e-38f6-4b79-9320-a7ad42dda48c" providerId="AD" clId="Web-{AF14295D-8607-7AC8-76DC-7562200246DA}" dt="2025-08-18T20:42:32.716" v="100" actId="20577"/>
          <ac:spMkLst>
            <pc:docMk/>
            <pc:sldMk cId="401051076" sldId="263"/>
            <ac:spMk id="3" creationId="{94DAA59E-3AE2-F2CE-C2DF-ECE6439DDF57}"/>
          </ac:spMkLst>
        </pc:spChg>
      </pc:sldChg>
      <pc:sldChg chg="add">
        <pc:chgData name="Ser Nam Lim" userId="S::se574370@ucf.edu::09ba2f5e-38f6-4b79-9320-a7ad42dda48c" providerId="AD" clId="Web-{AF14295D-8607-7AC8-76DC-7562200246DA}" dt="2025-08-18T19:41:42.099" v="29"/>
        <pc:sldMkLst>
          <pc:docMk/>
          <pc:sldMk cId="3313174859" sldId="264"/>
        </pc:sldMkLst>
      </pc:sldChg>
      <pc:sldChg chg="add">
        <pc:chgData name="Ser Nam Lim" userId="S::se574370@ucf.edu::09ba2f5e-38f6-4b79-9320-a7ad42dda48c" providerId="AD" clId="Web-{AF14295D-8607-7AC8-76DC-7562200246DA}" dt="2025-08-18T20:42:50.435" v="101"/>
        <pc:sldMkLst>
          <pc:docMk/>
          <pc:sldMk cId="1572740714" sldId="266"/>
        </pc:sldMkLst>
      </pc:sldChg>
      <pc:sldChg chg="add">
        <pc:chgData name="Ser Nam Lim" userId="S::se574370@ucf.edu::09ba2f5e-38f6-4b79-9320-a7ad42dda48c" providerId="AD" clId="Web-{AF14295D-8607-7AC8-76DC-7562200246DA}" dt="2025-08-18T19:41:42.318" v="30"/>
        <pc:sldMkLst>
          <pc:docMk/>
          <pc:sldMk cId="3870663489" sldId="269"/>
        </pc:sldMkLst>
      </pc:sldChg>
      <pc:sldChg chg="add">
        <pc:chgData name="Ser Nam Lim" userId="S::se574370@ucf.edu::09ba2f5e-38f6-4b79-9320-a7ad42dda48c" providerId="AD" clId="Web-{AF14295D-8607-7AC8-76DC-7562200246DA}" dt="2025-08-18T19:41:42.490" v="31"/>
        <pc:sldMkLst>
          <pc:docMk/>
          <pc:sldMk cId="2953896651" sldId="270"/>
        </pc:sldMkLst>
      </pc:sldChg>
      <pc:sldChg chg="add">
        <pc:chgData name="Ser Nam Lim" userId="S::se574370@ucf.edu::09ba2f5e-38f6-4b79-9320-a7ad42dda48c" providerId="AD" clId="Web-{AF14295D-8607-7AC8-76DC-7562200246DA}" dt="2025-08-18T19:41:42.740" v="32"/>
        <pc:sldMkLst>
          <pc:docMk/>
          <pc:sldMk cId="146482364" sldId="271"/>
        </pc:sldMkLst>
      </pc:sldChg>
      <pc:sldChg chg="add">
        <pc:chgData name="Ser Nam Lim" userId="S::se574370@ucf.edu::09ba2f5e-38f6-4b79-9320-a7ad42dda48c" providerId="AD" clId="Web-{AF14295D-8607-7AC8-76DC-7562200246DA}" dt="2025-08-18T19:41:43.021" v="33"/>
        <pc:sldMkLst>
          <pc:docMk/>
          <pc:sldMk cId="2325001644" sldId="272"/>
        </pc:sldMkLst>
      </pc:sldChg>
      <pc:sldChg chg="addSp delSp modSp new">
        <pc:chgData name="Ser Nam Lim" userId="S::se574370@ucf.edu::09ba2f5e-38f6-4b79-9320-a7ad42dda48c" providerId="AD" clId="Web-{AF14295D-8607-7AC8-76DC-7562200246DA}" dt="2025-08-18T22:34:11.339" v="139" actId="20577"/>
        <pc:sldMkLst>
          <pc:docMk/>
          <pc:sldMk cId="3952276273" sldId="273"/>
        </pc:sldMkLst>
        <pc:spChg chg="mod">
          <ac:chgData name="Ser Nam Lim" userId="S::se574370@ucf.edu::09ba2f5e-38f6-4b79-9320-a7ad42dda48c" providerId="AD" clId="Web-{AF14295D-8607-7AC8-76DC-7562200246DA}" dt="2025-08-18T20:43:14.546" v="108" actId="20577"/>
          <ac:spMkLst>
            <pc:docMk/>
            <pc:sldMk cId="3952276273" sldId="273"/>
            <ac:spMk id="2" creationId="{027ED0FB-3318-9708-A155-1023701AB4EC}"/>
          </ac:spMkLst>
        </pc:spChg>
        <pc:spChg chg="del mod">
          <ac:chgData name="Ser Nam Lim" userId="S::se574370@ucf.edu::09ba2f5e-38f6-4b79-9320-a7ad42dda48c" providerId="AD" clId="Web-{AF14295D-8607-7AC8-76DC-7562200246DA}" dt="2025-08-18T22:00:09.872" v="110"/>
          <ac:spMkLst>
            <pc:docMk/>
            <pc:sldMk cId="3952276273" sldId="273"/>
            <ac:spMk id="3" creationId="{4FB34ACA-6E4D-0FC5-18EE-39A3592BEB15}"/>
          </ac:spMkLst>
        </pc:spChg>
        <pc:spChg chg="add mod">
          <ac:chgData name="Ser Nam Lim" userId="S::se574370@ucf.edu::09ba2f5e-38f6-4b79-9320-a7ad42dda48c" providerId="AD" clId="Web-{AF14295D-8607-7AC8-76DC-7562200246DA}" dt="2025-08-18T22:34:11.339" v="139" actId="20577"/>
          <ac:spMkLst>
            <pc:docMk/>
            <pc:sldMk cId="3952276273" sldId="273"/>
            <ac:spMk id="4" creationId="{FB4DB504-8A94-B1F4-22CB-BB1AF97102F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hashankrapolu/human-action-recognition-dataset/d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CAP 6411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Aug 18, 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8682-A1EE-7A1B-41F5-40B4CBB0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Attendance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4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D0FB-3318-9708-A155-1023701A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Syllabus etc.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4DB504-8A94-B1F4-22CB-BB1AF9710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ＭＳ Ｐゴシック"/>
                <a:cs typeface="Calibri"/>
              </a:rPr>
              <a:t>Go through syllabus</a:t>
            </a:r>
          </a:p>
          <a:p>
            <a:r>
              <a:rPr lang="ja-JP" altLang="en-US">
                <a:ea typeface="ＭＳ Ｐゴシック"/>
                <a:cs typeface="Calibri"/>
              </a:rPr>
              <a:t>For assignments, ensure you save all your checkpoints, datasets</a:t>
            </a:r>
          </a:p>
          <a:p>
            <a:r>
              <a:rPr lang="ja-JP" altLang="en-US">
                <a:ea typeface="ＭＳ Ｐゴシック"/>
                <a:cs typeface="Calibri"/>
              </a:rPr>
              <a:t>Class format</a:t>
            </a:r>
            <a:endParaRPr lang="ja-JP" altLang="en-US" dirty="0">
              <a:ea typeface="ＭＳ Ｐゴシック"/>
              <a:cs typeface="Calibri"/>
            </a:endParaRPr>
          </a:p>
          <a:p>
            <a:r>
              <a:rPr lang="ja-JP" altLang="en-US">
                <a:ea typeface="ＭＳ Ｐゴシック"/>
                <a:cs typeface="Calibri"/>
              </a:rPr>
              <a:t>Assignment 0 – form project team</a:t>
            </a:r>
            <a:endParaRPr lang="ja-JP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227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3B60-87E0-608C-7CB7-904A3A64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Residual Network (ResNet)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B18AE-1917-2607-7C2F-12924BF72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Before ResNet:</a:t>
            </a:r>
          </a:p>
          <a:p>
            <a:pPr lvl="1"/>
            <a:r>
              <a:rPr lang="en-US">
                <a:cs typeface="Calibri"/>
              </a:rPr>
              <a:t>Adding more layer to deep CNN results in degradation of performance</a:t>
            </a:r>
          </a:p>
          <a:p>
            <a:pPr lvl="1"/>
            <a:r>
              <a:rPr lang="en-US">
                <a:cs typeface="Calibri"/>
              </a:rPr>
              <a:t>Is this degradation due to overfitting? </a:t>
            </a:r>
          </a:p>
          <a:p>
            <a:pPr lvl="2"/>
            <a:r>
              <a:rPr lang="en-US">
                <a:cs typeface="Calibri"/>
              </a:rPr>
              <a:t>No …</a:t>
            </a:r>
          </a:p>
          <a:p>
            <a:pPr lvl="2"/>
            <a:r>
              <a:rPr lang="en-US">
                <a:cs typeface="Calibri"/>
              </a:rPr>
              <a:t>Because training error went up – if it has been overfitting, training error would have gone down</a:t>
            </a:r>
          </a:p>
          <a:p>
            <a:pPr lvl="1"/>
            <a:r>
              <a:rPr lang="en-US">
                <a:cs typeface="Calibri"/>
              </a:rPr>
              <a:t>If not overfitting, should adding more layers cause degradation by itself?</a:t>
            </a:r>
          </a:p>
          <a:p>
            <a:pPr lvl="2"/>
            <a:r>
              <a:rPr lang="en-US">
                <a:cs typeface="Calibri"/>
              </a:rPr>
              <a:t>No …</a:t>
            </a:r>
          </a:p>
          <a:p>
            <a:pPr lvl="2"/>
            <a:r>
              <a:rPr lang="en-US">
                <a:cs typeface="Calibri"/>
              </a:rPr>
              <a:t>Imagine a shallow network, you can add more layers that are identity mappings, so the resulting deeper network should minimally have the same performance!!</a:t>
            </a:r>
          </a:p>
        </p:txBody>
      </p:sp>
    </p:spTree>
    <p:extLst>
      <p:ext uri="{BB962C8B-B14F-4D97-AF65-F5344CB8AC3E}">
        <p14:creationId xmlns:p14="http://schemas.microsoft.com/office/powerpoint/2010/main" val="385418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9C92-8561-D3EF-0B1C-6D5A5EB1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What does this tell us?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29197-C8D4-7722-63EF-E93D3429A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Trying to learn even an </a:t>
            </a:r>
            <a:r>
              <a:rPr lang="en-US" u="sng">
                <a:cs typeface="Calibri"/>
              </a:rPr>
              <a:t>identity </a:t>
            </a:r>
            <a:r>
              <a:rPr lang="en-US">
                <a:cs typeface="Calibri"/>
              </a:rPr>
              <a:t>mapping as network gets deeper is not trivial</a:t>
            </a:r>
          </a:p>
          <a:p>
            <a:r>
              <a:rPr lang="en-US">
                <a:cs typeface="Calibri"/>
              </a:rPr>
              <a:t>So, what's the solution?</a:t>
            </a:r>
          </a:p>
          <a:p>
            <a:pPr lvl="1"/>
            <a:r>
              <a:rPr lang="en-US">
                <a:cs typeface="Calibri"/>
              </a:rPr>
              <a:t>Say            is the desired mapping</a:t>
            </a:r>
          </a:p>
          <a:p>
            <a:pPr lvl="1"/>
            <a:r>
              <a:rPr lang="en-US">
                <a:cs typeface="Calibri"/>
              </a:rPr>
              <a:t>We learn                                 instead</a:t>
            </a:r>
          </a:p>
          <a:p>
            <a:pPr lvl="1"/>
            <a:r>
              <a:rPr lang="en-US">
                <a:cs typeface="Calibri"/>
              </a:rPr>
              <a:t>The original desired mapping is now </a:t>
            </a:r>
          </a:p>
          <a:p>
            <a:pPr lvl="1"/>
            <a:r>
              <a:rPr lang="en-US">
                <a:cs typeface="Calibri"/>
              </a:rPr>
              <a:t>This means that if we want to learn identity mappings, we just need to learn x = 0, which is easier than learning an identity mapping as mentioned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8EE5E0-201C-C810-E784-DA7031CB8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365" y="3207185"/>
            <a:ext cx="638175" cy="38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03ABC1-85AC-578C-D636-5A1493FA7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643" y="3634244"/>
            <a:ext cx="2085975" cy="361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5381E2-448D-57E0-1B04-F83922A9B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99" y="3999587"/>
            <a:ext cx="101917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69F8-06E7-588C-759C-8FD1DEC82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Residual Block</a:t>
            </a:r>
            <a:endParaRPr lang="en-US"/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50C0D32D-25D9-AEC8-F7FA-7362C4D32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578" y="1635183"/>
            <a:ext cx="4329830" cy="2627305"/>
          </a:xfrm>
          <a:prstGeom prst="rect">
            <a:avLst/>
          </a:prstGeom>
        </p:spPr>
      </p:pic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4E2313B-545C-6DA0-E3A0-7FBB57703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007" y="1631515"/>
            <a:ext cx="2581275" cy="60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077C5F-3D78-4A14-A110-CAEBE6C81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564" y="2413870"/>
            <a:ext cx="2009775" cy="381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4ED154-A428-191B-612F-EFDF06E0261F}"/>
              </a:ext>
            </a:extLst>
          </p:cNvPr>
          <p:cNvSpPr txBox="1"/>
          <p:nvPr/>
        </p:nvSpPr>
        <p:spPr>
          <a:xfrm>
            <a:off x="7244218" y="3486410"/>
            <a:ext cx="313985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14300" indent="-114300">
              <a:buFont typeface="Calibri"/>
              <a:buChar char="-"/>
            </a:pPr>
            <a:r>
              <a:rPr lang="en-US">
                <a:cs typeface="Calibri"/>
              </a:rPr>
              <a:t>Shortcut connections</a:t>
            </a:r>
          </a:p>
          <a:p>
            <a:pPr marL="114300" indent="-114300">
              <a:buFont typeface="Calibri"/>
              <a:buChar char="-"/>
            </a:pPr>
            <a:r>
              <a:rPr lang="en-US">
                <a:cs typeface="Calibri"/>
              </a:rPr>
              <a:t>Element-wise addition</a:t>
            </a:r>
          </a:p>
          <a:p>
            <a:pPr marL="114300" indent="-114300">
              <a:buFont typeface="Calibri"/>
              <a:buChar char="-"/>
            </a:pPr>
            <a:r>
              <a:rPr lang="en-US">
                <a:cs typeface="Calibri"/>
              </a:rPr>
              <a:t>2-3 layers work best per block</a:t>
            </a:r>
          </a:p>
        </p:txBody>
      </p:sp>
    </p:spTree>
    <p:extLst>
      <p:ext uri="{BB962C8B-B14F-4D97-AF65-F5344CB8AC3E}">
        <p14:creationId xmlns:p14="http://schemas.microsoft.com/office/powerpoint/2010/main" val="4120938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text&#10;&#10;Description automatically generated">
            <a:extLst>
              <a:ext uri="{FF2B5EF4-FFF2-40B4-BE49-F238E27FC236}">
                <a16:creationId xmlns:a16="http://schemas.microsoft.com/office/drawing/2014/main" id="{AD23ECBA-57CA-E55B-B294-2B92BC61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867" y="1261999"/>
            <a:ext cx="6616135" cy="52288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C7658E-2BCC-865A-A8FC-C8768EF9C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71887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F173-108C-316D-4E00-EE45E5C72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Transformer vs CNN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AF1B6-B1FE-99D4-8824-8B77AF81C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Transformer:</a:t>
            </a:r>
          </a:p>
          <a:p>
            <a:pPr lvl="1"/>
            <a:r>
              <a:rPr lang="en-US">
                <a:cs typeface="Calibri"/>
              </a:rPr>
              <a:t>Originated from language research</a:t>
            </a:r>
          </a:p>
          <a:p>
            <a:pPr lvl="1"/>
            <a:r>
              <a:rPr lang="en-US">
                <a:cs typeface="Calibri"/>
              </a:rPr>
              <a:t>Sentences are broken into tokens</a:t>
            </a:r>
          </a:p>
          <a:p>
            <a:pPr lvl="1"/>
            <a:r>
              <a:rPr lang="en-US">
                <a:cs typeface="Calibri"/>
              </a:rPr>
              <a:t>Tokens are run through self-attention processor:</a:t>
            </a:r>
          </a:p>
          <a:p>
            <a:pPr lvl="1"/>
            <a:endParaRPr lang="en-US">
              <a:cs typeface="Calibri"/>
            </a:endParaRPr>
          </a:p>
          <a:p>
            <a:pPr lvl="1"/>
            <a:endParaRPr lang="en-US">
              <a:cs typeface="Calibri"/>
            </a:endParaRPr>
          </a:p>
          <a:p>
            <a:pPr lvl="1"/>
            <a:r>
              <a:rPr lang="en-US">
                <a:cs typeface="Calibri"/>
              </a:rPr>
              <a:t>Intuitively, and this is MY </a:t>
            </a:r>
            <a:r>
              <a:rPr lang="en-US" b="1" u="sng">
                <a:cs typeface="Calibri"/>
              </a:rPr>
              <a:t>interpretation</a:t>
            </a:r>
            <a:r>
              <a:rPr lang="en-US">
                <a:cs typeface="Calibri"/>
              </a:rPr>
              <a:t>, this is like "self-selection" to figure out what tokens are important</a:t>
            </a:r>
          </a:p>
          <a:p>
            <a:pPr lvl="1"/>
            <a:r>
              <a:rPr lang="en-US">
                <a:cs typeface="Calibri"/>
              </a:rPr>
              <a:t>Convolutional layers are also trying to achieve similar purpose – selecting the neurons/pixels that matters, but done through a "completely" different mechanism (like abstracting an image)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E543C-6005-B322-2A52-6435A90CC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880" y="3501672"/>
            <a:ext cx="4302830" cy="70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14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7A5C8-B9C9-33DE-408B-359083F6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cs typeface="Calibri Light"/>
              </a:rPr>
              <a:t>ViT</a:t>
            </a:r>
            <a:r>
              <a:rPr lang="en-US">
                <a:cs typeface="Calibri Light"/>
              </a:rPr>
              <a:t> Architecture</a:t>
            </a:r>
            <a:endParaRPr lang="en-US"/>
          </a:p>
        </p:txBody>
      </p:sp>
      <p:pic>
        <p:nvPicPr>
          <p:cNvPr id="4" name="Picture 3" descr="A diagram of a transformer&#10;&#10;Description automatically generated">
            <a:extLst>
              <a:ext uri="{FF2B5EF4-FFF2-40B4-BE49-F238E27FC236}">
                <a16:creationId xmlns:a16="http://schemas.microsoft.com/office/drawing/2014/main" id="{126E1151-CEBE-411B-528B-723A747C2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548" y="1563068"/>
            <a:ext cx="7305792" cy="3722457"/>
          </a:xfrm>
          <a:prstGeom prst="rect">
            <a:avLst/>
          </a:prstGeom>
        </p:spPr>
      </p:pic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D2E3BD9-6B24-C2F7-1DEB-E3B40857F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252" y="5533931"/>
            <a:ext cx="6675496" cy="1161767"/>
          </a:xfrm>
          <a:prstGeom prst="rect">
            <a:avLst/>
          </a:prstGeom>
        </p:spPr>
      </p:pic>
      <p:pic>
        <p:nvPicPr>
          <p:cNvPr id="3" name="Picture 2" descr="A diagram of a process flow&#10;&#10;Description automatically generated">
            <a:extLst>
              <a:ext uri="{FF2B5EF4-FFF2-40B4-BE49-F238E27FC236}">
                <a16:creationId xmlns:a16="http://schemas.microsoft.com/office/drawing/2014/main" id="{C48E2702-6C4C-FAF4-00C1-58E5CC5D7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658" y="1258711"/>
            <a:ext cx="1746461" cy="4857985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2FD05FB9-3922-A32D-8189-C759B32241CF}"/>
              </a:ext>
            </a:extLst>
          </p:cNvPr>
          <p:cNvSpPr/>
          <p:nvPr/>
        </p:nvSpPr>
        <p:spPr>
          <a:xfrm rot="3300000">
            <a:off x="10178814" y="6001925"/>
            <a:ext cx="197555" cy="45155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4C382-A3DF-D950-8A5B-5D31AAA507FD}"/>
              </a:ext>
            </a:extLst>
          </p:cNvPr>
          <p:cNvSpPr txBox="1"/>
          <p:nvPr/>
        </p:nvSpPr>
        <p:spPr>
          <a:xfrm>
            <a:off x="9670814" y="6434666"/>
            <a:ext cx="8899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WHY?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74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E9A5-86A2-C187-4479-CC7B4659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QKV</a:t>
            </a:r>
            <a:endParaRPr lang="en-US"/>
          </a:p>
        </p:txBody>
      </p:sp>
      <p:pic>
        <p:nvPicPr>
          <p:cNvPr id="4" name="Picture 3" descr="A hand holding a yellow card next to several folders&#10;&#10;Description automatically generated">
            <a:extLst>
              <a:ext uri="{FF2B5EF4-FFF2-40B4-BE49-F238E27FC236}">
                <a16:creationId xmlns:a16="http://schemas.microsoft.com/office/drawing/2014/main" id="{323EE7A4-457F-FBBF-932E-D4B41E4EE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220" y="1423601"/>
            <a:ext cx="6762750" cy="3619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9FAC6-8F4A-B475-12B1-E4C02DFBBF64}"/>
              </a:ext>
            </a:extLst>
          </p:cNvPr>
          <p:cNvSpPr txBox="1"/>
          <p:nvPr/>
        </p:nvSpPr>
        <p:spPr>
          <a:xfrm>
            <a:off x="514864" y="2667000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Example on using </a:t>
            </a:r>
            <a:r>
              <a:rPr lang="en-US" err="1">
                <a:ea typeface="Calibri"/>
                <a:cs typeface="Calibri"/>
              </a:rPr>
              <a:t>LLaVA</a:t>
            </a:r>
            <a:r>
              <a:rPr lang="en-US">
                <a:ea typeface="Calibri"/>
                <a:cs typeface="Calibri"/>
              </a:rPr>
              <a:t> for Classification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63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4041B-B4E0-2044-CCB0-2DAA0B78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Positional Encoding</a:t>
            </a:r>
            <a:endParaRPr lang="en-US"/>
          </a:p>
        </p:txBody>
      </p:sp>
      <p:pic>
        <p:nvPicPr>
          <p:cNvPr id="4" name="Picture 3" descr="A white paper with black text and numbers&#10;&#10;Description automatically generated">
            <a:extLst>
              <a:ext uri="{FF2B5EF4-FFF2-40B4-BE49-F238E27FC236}">
                <a16:creationId xmlns:a16="http://schemas.microsoft.com/office/drawing/2014/main" id="{AD38F77E-BE8E-83AA-5A03-6CB8EE0D5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89" y="1550436"/>
            <a:ext cx="5377274" cy="514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96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87A36-CA41-5017-DD68-A04F94DE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LN (Layer Norm) vs BN (Batch Norm)</a:t>
            </a:r>
            <a:endParaRPr lang="en-US"/>
          </a:p>
        </p:txBody>
      </p:sp>
      <p:pic>
        <p:nvPicPr>
          <p:cNvPr id="4" name="Picture 3" descr="A blue background with white text and numbers&#10;&#10;Description automatically generated">
            <a:extLst>
              <a:ext uri="{FF2B5EF4-FFF2-40B4-BE49-F238E27FC236}">
                <a16:creationId xmlns:a16="http://schemas.microsoft.com/office/drawing/2014/main" id="{1F0A90DF-79E0-AB68-1942-43B2B6B97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78" y="1829043"/>
            <a:ext cx="5367866" cy="35762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06DBDF-11CF-EFF6-F8E2-34EBA3C70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437" y="1833460"/>
            <a:ext cx="4624681" cy="35391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FD585E-D257-4E0A-D732-744207AFCF26}"/>
              </a:ext>
            </a:extLst>
          </p:cNvPr>
          <p:cNvSpPr txBox="1"/>
          <p:nvPr/>
        </p:nvSpPr>
        <p:spPr>
          <a:xfrm>
            <a:off x="3194304" y="5388864"/>
            <a:ext cx="5486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BN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5DCFA8-3924-E21A-F997-4D57CB2928FE}"/>
              </a:ext>
            </a:extLst>
          </p:cNvPr>
          <p:cNvSpPr txBox="1"/>
          <p:nvPr/>
        </p:nvSpPr>
        <p:spPr>
          <a:xfrm>
            <a:off x="6967728" y="5388864"/>
            <a:ext cx="42306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LN – good for sequence model, removes dependence on batches of samples</a:t>
            </a:r>
          </a:p>
        </p:txBody>
      </p:sp>
    </p:spTree>
    <p:extLst>
      <p:ext uri="{BB962C8B-B14F-4D97-AF65-F5344CB8AC3E}">
        <p14:creationId xmlns:p14="http://schemas.microsoft.com/office/powerpoint/2010/main" val="14648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E8A7-E69B-C1A2-0373-9D6E48A0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MSA (Multi-head Self Attention)</a:t>
            </a:r>
            <a:endParaRPr lang="en-US"/>
          </a:p>
        </p:txBody>
      </p:sp>
      <p:pic>
        <p:nvPicPr>
          <p:cNvPr id="4" name="Picture 3" descr="A diagram of a software algorithm&#10;&#10;Description automatically generated">
            <a:extLst>
              <a:ext uri="{FF2B5EF4-FFF2-40B4-BE49-F238E27FC236}">
                <a16:creationId xmlns:a16="http://schemas.microsoft.com/office/drawing/2014/main" id="{F8645F5D-BEC2-F827-A71C-740677135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25" y="2293719"/>
            <a:ext cx="4286015" cy="4481303"/>
          </a:xfrm>
          <a:prstGeom prst="rect">
            <a:avLst/>
          </a:prstGeom>
        </p:spPr>
      </p:pic>
      <p:pic>
        <p:nvPicPr>
          <p:cNvPr id="5" name="Picture 4" descr="Black text on a white background&#10;&#10;Description automatically generated">
            <a:extLst>
              <a:ext uri="{FF2B5EF4-FFF2-40B4-BE49-F238E27FC236}">
                <a16:creationId xmlns:a16="http://schemas.microsoft.com/office/drawing/2014/main" id="{C4E3EE32-F475-8173-CD66-49ACE606F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141" y="1376770"/>
            <a:ext cx="4841051" cy="905941"/>
          </a:xfrm>
          <a:prstGeom prst="rect">
            <a:avLst/>
          </a:prstGeom>
        </p:spPr>
      </p:pic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7EDC4E94-A470-1FA8-82CC-2A6FB1F2F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33" y="1413743"/>
            <a:ext cx="4803422" cy="5112366"/>
          </a:xfrm>
          <a:prstGeom prst="rect">
            <a:avLst/>
          </a:prstGeom>
        </p:spPr>
      </p:pic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60CE4AD2-041A-1482-4539-A8937E2AF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029" y="152894"/>
            <a:ext cx="3721571" cy="64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01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A42C-741A-7FF5-4AB4-2FBA0DB9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Who Attend Who?</a:t>
            </a:r>
            <a:endParaRPr lang="en-US"/>
          </a:p>
        </p:txBody>
      </p:sp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30E9ED7A-9B1A-EFDE-4511-3492AAFAC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5" y="1710970"/>
            <a:ext cx="9968088" cy="324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27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E2297-2CD6-3F6A-239C-F641DE85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Assignments (due 8/28)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AA59E-3AE2-F2CE-C2DF-ECE6439D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>
                <a:cs typeface="Calibri"/>
              </a:rPr>
              <a:t>Train on Human Action Recognition (40%)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sz="2400">
                <a:ea typeface="Calibri"/>
                <a:cs typeface="Calibri"/>
                <a:hlinkClick r:id="rId2"/>
              </a:rPr>
              <a:t>https://www.kaggle.com/datasets/shashankrapolu/human-action-recognition-dataset/data</a:t>
            </a:r>
            <a:endParaRPr lang="en-US" sz="2400">
              <a:ea typeface="Calibri"/>
              <a:cs typeface="Calibri"/>
            </a:endParaRPr>
          </a:p>
          <a:p>
            <a:pPr marL="685800">
              <a:spcBef>
                <a:spcPts val="500"/>
              </a:spcBef>
            </a:pPr>
            <a:r>
              <a:rPr lang="en-US" sz="2400">
                <a:cs typeface="Calibri"/>
              </a:rPr>
              <a:t>Evaluation on test set </a:t>
            </a:r>
            <a:r>
              <a:rPr lang="en-US" sz="2400">
                <a:ea typeface="+mn-lt"/>
                <a:cs typeface="+mn-lt"/>
              </a:rPr>
              <a:t>human-action-recognition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15 classes, 218 MB, 12600 images, train/test split available</a:t>
            </a:r>
          </a:p>
          <a:p>
            <a:pPr lvl="1"/>
            <a:r>
              <a:rPr lang="en-US" b="1" u="sng">
                <a:cs typeface="Calibri"/>
              </a:rPr>
              <a:t>ResNet 18 vs </a:t>
            </a:r>
            <a:r>
              <a:rPr lang="en-US" b="1" u="sng" err="1">
                <a:cs typeface="Calibri"/>
              </a:rPr>
              <a:t>ViT</a:t>
            </a:r>
            <a:endParaRPr lang="en-US" b="1" u="sng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Report and code zip (10%)</a:t>
            </a:r>
          </a:p>
          <a:p>
            <a:pPr lvl="1"/>
            <a:r>
              <a:rPr lang="en-US">
                <a:cs typeface="Calibri"/>
              </a:rPr>
              <a:t>Errors and obstacles faced running the model</a:t>
            </a:r>
          </a:p>
          <a:p>
            <a:pPr lvl="1"/>
            <a:r>
              <a:rPr lang="en-US">
                <a:cs typeface="Calibri"/>
              </a:rPr>
              <a:t>Must have </a:t>
            </a:r>
            <a:r>
              <a:rPr lang="en-US" err="1">
                <a:cs typeface="Calibri"/>
              </a:rPr>
              <a:t>conda</a:t>
            </a:r>
            <a:r>
              <a:rPr lang="en-US">
                <a:cs typeface="Calibri"/>
              </a:rPr>
              <a:t> requirement.txt, cli commands to generate the evaluation results above (random checks will be perform to verify)</a:t>
            </a:r>
          </a:p>
          <a:p>
            <a:pPr lvl="1"/>
            <a:r>
              <a:rPr lang="en-US">
                <a:ea typeface="Calibri"/>
                <a:cs typeface="Calibri"/>
              </a:rPr>
              <a:t>Training log</a:t>
            </a:r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Video of live demo (20%)</a:t>
            </a:r>
          </a:p>
          <a:p>
            <a:pPr lvl="1"/>
            <a:r>
              <a:rPr lang="en-US">
                <a:cs typeface="Calibri"/>
              </a:rPr>
              <a:t>The video should comprise of visual outputs (e.g., a text "cat" overlay on the image being classified that has a cat in it)</a:t>
            </a:r>
          </a:p>
          <a:p>
            <a:r>
              <a:rPr lang="en-US">
                <a:cs typeface="Calibri"/>
              </a:rPr>
              <a:t>Insights (30%)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cs typeface="Calibri"/>
              </a:rPr>
              <a:t>ResNet vs </a:t>
            </a:r>
            <a:r>
              <a:rPr lang="en-US" err="1">
                <a:cs typeface="Calibri"/>
              </a:rPr>
              <a:t>ViT</a:t>
            </a:r>
          </a:p>
          <a:p>
            <a:pPr lvl="1"/>
            <a:r>
              <a:rPr lang="en-US">
                <a:cs typeface="Calibri"/>
              </a:rPr>
              <a:t>Computational comparisons</a:t>
            </a:r>
          </a:p>
          <a:p>
            <a:pPr lvl="1"/>
            <a:r>
              <a:rPr lang="en-US">
                <a:ea typeface="Calibri" panose="020F0502020204030204"/>
                <a:cs typeface="Calibri"/>
              </a:rPr>
              <a:t>Why one is better ...</a:t>
            </a:r>
          </a:p>
          <a:p>
            <a:pPr lvl="1"/>
            <a:endParaRPr lang="en-US">
              <a:ea typeface="Calibri" panose="020F0502020204030204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051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CAP 6411</vt:lpstr>
      <vt:lpstr>Attendance</vt:lpstr>
      <vt:lpstr>Syllabus etc.</vt:lpstr>
      <vt:lpstr>Residual Network (ResNet)</vt:lpstr>
      <vt:lpstr>What does this tell us?</vt:lpstr>
      <vt:lpstr>Residual Block</vt:lpstr>
      <vt:lpstr>Implementations</vt:lpstr>
      <vt:lpstr>Transformer vs CNN</vt:lpstr>
      <vt:lpstr>ViT Architecture</vt:lpstr>
      <vt:lpstr>QKV</vt:lpstr>
      <vt:lpstr>Positional Encoding</vt:lpstr>
      <vt:lpstr>LN (Layer Norm) vs BN (Batch Norm)</vt:lpstr>
      <vt:lpstr>MSA (Multi-head Self Attention)</vt:lpstr>
      <vt:lpstr>Who Attend Who?</vt:lpstr>
      <vt:lpstr>Assignments (due 8/28)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2025-08-18T19:23:01Z</dcterms:created>
  <dcterms:modified xsi:type="dcterms:W3CDTF">2025-08-19T17:05:24Z</dcterms:modified>
</cp:coreProperties>
</file>