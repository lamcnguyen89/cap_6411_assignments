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F6242-C992-5717-2ABF-9EE310938EA0}" v="238" dt="2025-08-25T23:04:23.805"/>
    <p1510:client id="{72C5DAD2-3711-C344-B683-F987D9AD2855}" v="402" dt="2025-08-25T21:39:39.718"/>
    <p1510:client id="{D557F0DB-6ED4-8872-8A5B-B3999B59612A}" v="125" dt="2025-08-25T21:59:21.186"/>
    <p1510:client id="{D66F5249-FD24-1893-A4F0-73E865478061}" v="153" dt="2025-08-25T19:16:18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9DFF32-EBDC-43DE-91F8-F7C8319FA5D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CDDA04-DDD2-4F70-8176-10E0D88623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Recall:</a:t>
          </a:r>
        </a:p>
      </dgm:t>
    </dgm:pt>
    <dgm:pt modelId="{F5EF9349-1E90-4745-809E-BFA21BE7CFB8}" type="parTrans" cxnId="{31237DE1-B021-4847-BDC2-1D7E9917E574}">
      <dgm:prSet/>
      <dgm:spPr/>
      <dgm:t>
        <a:bodyPr/>
        <a:lstStyle/>
        <a:p>
          <a:endParaRPr lang="en-US"/>
        </a:p>
      </dgm:t>
    </dgm:pt>
    <dgm:pt modelId="{648E06C6-E09E-45AD-9001-14699E782515}" type="sibTrans" cxnId="{31237DE1-B021-4847-BDC2-1D7E9917E574}">
      <dgm:prSet/>
      <dgm:spPr/>
      <dgm:t>
        <a:bodyPr/>
        <a:lstStyle/>
        <a:p>
          <a:endParaRPr lang="en-US"/>
        </a:p>
      </dgm:t>
    </dgm:pt>
    <dgm:pt modelId="{F2154EFE-27D6-46F0-A27B-D6CA024F19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Faster R-CNN tried to "merge" RPN as part of one network (sliding window based)</a:t>
          </a:r>
        </a:p>
      </dgm:t>
    </dgm:pt>
    <dgm:pt modelId="{0E9CC1A4-AB8C-4A95-BFB7-1FD2EAAB9CDE}" type="parTrans" cxnId="{E8D053C9-1A77-44BA-A23A-3A38931AB99E}">
      <dgm:prSet/>
      <dgm:spPr/>
      <dgm:t>
        <a:bodyPr/>
        <a:lstStyle/>
        <a:p>
          <a:endParaRPr lang="en-US"/>
        </a:p>
      </dgm:t>
    </dgm:pt>
    <dgm:pt modelId="{8F9B145B-51ED-4458-AACC-FF950CCBEB82}" type="sibTrans" cxnId="{E8D053C9-1A77-44BA-A23A-3A38931AB99E}">
      <dgm:prSet/>
      <dgm:spPr/>
      <dgm:t>
        <a:bodyPr/>
        <a:lstStyle/>
        <a:p>
          <a:endParaRPr lang="en-US"/>
        </a:p>
      </dgm:t>
    </dgm:pt>
    <dgm:pt modelId="{A35B90BE-7889-4A44-B3E6-5BC2608341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sliding window: </a:t>
          </a:r>
          <a:r>
            <a:rPr lang="en-US" i="1" dirty="0"/>
            <a:t>k </a:t>
          </a:r>
          <a:r>
            <a:rPr lang="en-US" dirty="0"/>
            <a:t>anchor boxes</a:t>
          </a:r>
        </a:p>
      </dgm:t>
    </dgm:pt>
    <dgm:pt modelId="{3374F3D6-C30B-4535-9D80-F2BC61239BAF}" type="parTrans" cxnId="{7E215707-3A57-4ACA-8294-42A1550DBD3F}">
      <dgm:prSet/>
      <dgm:spPr/>
      <dgm:t>
        <a:bodyPr/>
        <a:lstStyle/>
        <a:p>
          <a:endParaRPr lang="en-US"/>
        </a:p>
      </dgm:t>
    </dgm:pt>
    <dgm:pt modelId="{58CBE718-D13A-4F2D-83A7-CCF12DA04C28}" type="sibTrans" cxnId="{7E215707-3A57-4ACA-8294-42A1550DBD3F}">
      <dgm:prSet/>
      <dgm:spPr/>
      <dgm:t>
        <a:bodyPr/>
        <a:lstStyle/>
        <a:p>
          <a:endParaRPr lang="en-US"/>
        </a:p>
      </dgm:t>
    </dgm:pt>
    <dgm:pt modelId="{38061B8E-3705-44CD-A087-7BEA9BC6E1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DETR main principles:</a:t>
          </a:r>
        </a:p>
      </dgm:t>
    </dgm:pt>
    <dgm:pt modelId="{FFD040DB-CB4F-46FE-9FBA-60EC1AEE6E0E}" type="parTrans" cxnId="{F9C720B4-4C17-420A-A71A-B1D2183248AE}">
      <dgm:prSet/>
      <dgm:spPr/>
      <dgm:t>
        <a:bodyPr/>
        <a:lstStyle/>
        <a:p>
          <a:endParaRPr lang="en-US"/>
        </a:p>
      </dgm:t>
    </dgm:pt>
    <dgm:pt modelId="{B8321FE6-E78F-4032-BD31-5420EC94B6C0}" type="sibTrans" cxnId="{F9C720B4-4C17-420A-A71A-B1D2183248AE}">
      <dgm:prSet/>
      <dgm:spPr/>
      <dgm:t>
        <a:bodyPr/>
        <a:lstStyle/>
        <a:p>
          <a:endParaRPr lang="en-US"/>
        </a:p>
      </dgm:t>
    </dgm:pt>
    <dgm:pt modelId="{73C4EBCF-B439-4B31-8CAF-506CEBB4AD3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Calibri Light" panose="020F0302020204030204"/>
            </a:rPr>
            <a:t>One-shot detection – do away with surrogate predictions, postprocessing (NMS)</a:t>
          </a:r>
          <a:endParaRPr lang="en-US">
            <a:latin typeface="Calibri Light" panose="020F0302020204030204"/>
          </a:endParaRPr>
        </a:p>
      </dgm:t>
    </dgm:pt>
    <dgm:pt modelId="{E86B4065-4549-4179-8187-6DEBE6217931}" type="parTrans" cxnId="{7A449A09-921A-4918-97A6-1973A68C94D7}">
      <dgm:prSet/>
      <dgm:spPr/>
    </dgm:pt>
    <dgm:pt modelId="{7C88FF56-8936-46F6-B19C-242937128CCC}" type="sibTrans" cxnId="{7A449A09-921A-4918-97A6-1973A68C94D7}">
      <dgm:prSet/>
      <dgm:spPr/>
    </dgm:pt>
    <dgm:pt modelId="{A095C92C-E5C9-49FE-A374-225D1660D16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Calibri Light" panose="020F0302020204030204"/>
            </a:rPr>
            <a:t>Transformer (attention, attention, attention)</a:t>
          </a:r>
        </a:p>
      </dgm:t>
    </dgm:pt>
    <dgm:pt modelId="{C86D5E63-5852-45A9-B5E0-F918BC9131BA}" type="parTrans" cxnId="{DAA855EB-2A70-4541-983A-682C961930BC}">
      <dgm:prSet/>
      <dgm:spPr/>
    </dgm:pt>
    <dgm:pt modelId="{D1AAB349-A686-43E0-A700-80C34E50F7A7}" type="sibTrans" cxnId="{DAA855EB-2A70-4541-983A-682C961930BC}">
      <dgm:prSet/>
      <dgm:spPr/>
    </dgm:pt>
    <dgm:pt modelId="{B6830FD5-1C81-480F-88B0-98F51E07A7E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Calibri Light" panose="020F0302020204030204"/>
            </a:rPr>
            <a:t>Direct set prediction (set of </a:t>
          </a:r>
          <a:r>
            <a:rPr lang="en-US" b="1" dirty="0" err="1">
              <a:latin typeface="Calibri Light" panose="020F0302020204030204"/>
            </a:rPr>
            <a:t>bboxes</a:t>
          </a:r>
          <a:r>
            <a:rPr lang="en-US" b="1" dirty="0">
              <a:latin typeface="Calibri Light" panose="020F0302020204030204"/>
            </a:rPr>
            <a:t>)</a:t>
          </a:r>
        </a:p>
      </dgm:t>
    </dgm:pt>
    <dgm:pt modelId="{A6D55FD4-6E4A-43A3-9799-15D1C397B26D}" type="parTrans" cxnId="{7638291E-3F4F-4EA9-8FFF-444299166619}">
      <dgm:prSet/>
      <dgm:spPr/>
    </dgm:pt>
    <dgm:pt modelId="{270B081D-DBC2-4325-BB96-D1ED71D4E8C9}" type="sibTrans" cxnId="{7638291E-3F4F-4EA9-8FFF-444299166619}">
      <dgm:prSet/>
      <dgm:spPr/>
    </dgm:pt>
    <dgm:pt modelId="{9B260F40-E6ED-4655-84CD-6979F79F9DA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dirty="0">
              <a:latin typeface="Calibri Light" panose="020F0302020204030204"/>
            </a:rPr>
            <a:t>Predict </a:t>
          </a:r>
          <a:r>
            <a:rPr lang="en-US" b="0" dirty="0" err="1">
              <a:latin typeface="Calibri Light" panose="020F0302020204030204"/>
            </a:rPr>
            <a:t>bbox</a:t>
          </a:r>
          <a:r>
            <a:rPr lang="en-US" b="0" dirty="0">
              <a:latin typeface="Calibri Light" panose="020F0302020204030204"/>
            </a:rPr>
            <a:t> regression and classification</a:t>
          </a:r>
        </a:p>
      </dgm:t>
    </dgm:pt>
    <dgm:pt modelId="{6A0A5D24-80F8-4E16-A8F4-18316DFFC1BC}" type="parTrans" cxnId="{69885788-6A91-4E86-8F4C-238C76AFA83B}">
      <dgm:prSet/>
      <dgm:spPr/>
    </dgm:pt>
    <dgm:pt modelId="{12643420-8ADA-47BF-9C9B-31DD10049B56}" type="sibTrans" cxnId="{69885788-6A91-4E86-8F4C-238C76AFA83B}">
      <dgm:prSet/>
      <dgm:spPr/>
    </dgm:pt>
    <dgm:pt modelId="{CB434B1D-687B-426B-B076-5BB5D2745612}" type="pres">
      <dgm:prSet presAssocID="{A49DFF32-EBDC-43DE-91F8-F7C8319FA5DC}" presName="root" presStyleCnt="0">
        <dgm:presLayoutVars>
          <dgm:dir/>
          <dgm:resizeHandles val="exact"/>
        </dgm:presLayoutVars>
      </dgm:prSet>
      <dgm:spPr/>
    </dgm:pt>
    <dgm:pt modelId="{BC5DB45E-9530-46B9-AA3F-048D38832294}" type="pres">
      <dgm:prSet presAssocID="{56CDDA04-DDD2-4F70-8176-10E0D88623EF}" presName="compNode" presStyleCnt="0"/>
      <dgm:spPr/>
    </dgm:pt>
    <dgm:pt modelId="{0CC5090A-044C-4B3D-B231-091ADC002FA8}" type="pres">
      <dgm:prSet presAssocID="{56CDDA04-DDD2-4F70-8176-10E0D88623E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486DE1B7-FB2B-4411-876C-70443E0AD08E}" type="pres">
      <dgm:prSet presAssocID="{56CDDA04-DDD2-4F70-8176-10E0D88623EF}" presName="iconSpace" presStyleCnt="0"/>
      <dgm:spPr/>
    </dgm:pt>
    <dgm:pt modelId="{6FD3250E-374B-40AC-9E6A-5E21483E07D9}" type="pres">
      <dgm:prSet presAssocID="{56CDDA04-DDD2-4F70-8176-10E0D88623EF}" presName="parTx" presStyleLbl="revTx" presStyleIdx="0" presStyleCnt="4">
        <dgm:presLayoutVars>
          <dgm:chMax val="0"/>
          <dgm:chPref val="0"/>
        </dgm:presLayoutVars>
      </dgm:prSet>
      <dgm:spPr/>
    </dgm:pt>
    <dgm:pt modelId="{0B25F66C-FA00-4EC4-BC6E-F430E512C3C1}" type="pres">
      <dgm:prSet presAssocID="{56CDDA04-DDD2-4F70-8176-10E0D88623EF}" presName="txSpace" presStyleCnt="0"/>
      <dgm:spPr/>
    </dgm:pt>
    <dgm:pt modelId="{18BC723E-47DA-4888-89F3-E9C99C397D35}" type="pres">
      <dgm:prSet presAssocID="{56CDDA04-DDD2-4F70-8176-10E0D88623EF}" presName="desTx" presStyleLbl="revTx" presStyleIdx="1" presStyleCnt="4">
        <dgm:presLayoutVars/>
      </dgm:prSet>
      <dgm:spPr/>
    </dgm:pt>
    <dgm:pt modelId="{81EB844E-5916-41FC-924B-99E765DC1688}" type="pres">
      <dgm:prSet presAssocID="{648E06C6-E09E-45AD-9001-14699E782515}" presName="sibTrans" presStyleCnt="0"/>
      <dgm:spPr/>
    </dgm:pt>
    <dgm:pt modelId="{A5703235-999C-4878-AFF7-4B86F266C91D}" type="pres">
      <dgm:prSet presAssocID="{38061B8E-3705-44CD-A087-7BEA9BC6E13E}" presName="compNode" presStyleCnt="0"/>
      <dgm:spPr/>
    </dgm:pt>
    <dgm:pt modelId="{2CE3642D-EF53-472B-B000-2D9F8E06DA24}" type="pres">
      <dgm:prSet presAssocID="{38061B8E-3705-44CD-A087-7BEA9BC6E13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CF0923D-9C66-48DF-83EE-4E1064E10C7D}" type="pres">
      <dgm:prSet presAssocID="{38061B8E-3705-44CD-A087-7BEA9BC6E13E}" presName="iconSpace" presStyleCnt="0"/>
      <dgm:spPr/>
    </dgm:pt>
    <dgm:pt modelId="{F915270C-2C03-4300-AA28-8D6DBB68B5C5}" type="pres">
      <dgm:prSet presAssocID="{38061B8E-3705-44CD-A087-7BEA9BC6E13E}" presName="parTx" presStyleLbl="revTx" presStyleIdx="2" presStyleCnt="4">
        <dgm:presLayoutVars>
          <dgm:chMax val="0"/>
          <dgm:chPref val="0"/>
        </dgm:presLayoutVars>
      </dgm:prSet>
      <dgm:spPr/>
    </dgm:pt>
    <dgm:pt modelId="{707820CE-2D11-4C5C-90B7-6546B8631995}" type="pres">
      <dgm:prSet presAssocID="{38061B8E-3705-44CD-A087-7BEA9BC6E13E}" presName="txSpace" presStyleCnt="0"/>
      <dgm:spPr/>
    </dgm:pt>
    <dgm:pt modelId="{1D0142EF-8968-4A1F-AAA2-B6329661F140}" type="pres">
      <dgm:prSet presAssocID="{38061B8E-3705-44CD-A087-7BEA9BC6E13E}" presName="desTx" presStyleLbl="revTx" presStyleIdx="3" presStyleCnt="4">
        <dgm:presLayoutVars/>
      </dgm:prSet>
      <dgm:spPr/>
    </dgm:pt>
  </dgm:ptLst>
  <dgm:cxnLst>
    <dgm:cxn modelId="{7E215707-3A57-4ACA-8294-42A1550DBD3F}" srcId="{56CDDA04-DDD2-4F70-8176-10E0D88623EF}" destId="{A35B90BE-7889-4A44-B3E6-5BC26083417E}" srcOrd="1" destOrd="0" parTransId="{3374F3D6-C30B-4535-9D80-F2BC61239BAF}" sibTransId="{58CBE718-D13A-4F2D-83A7-CCF12DA04C28}"/>
    <dgm:cxn modelId="{7A449A09-921A-4918-97A6-1973A68C94D7}" srcId="{38061B8E-3705-44CD-A087-7BEA9BC6E13E}" destId="{73C4EBCF-B439-4B31-8CAF-506CEBB4AD32}" srcOrd="0" destOrd="0" parTransId="{E86B4065-4549-4179-8187-6DEBE6217931}" sibTransId="{7C88FF56-8936-46F6-B19C-242937128CCC}"/>
    <dgm:cxn modelId="{5FCA2C0C-5A00-4C64-AD53-678DF2267B24}" type="presOf" srcId="{73C4EBCF-B439-4B31-8CAF-506CEBB4AD32}" destId="{1D0142EF-8968-4A1F-AAA2-B6329661F140}" srcOrd="0" destOrd="0" presId="urn:microsoft.com/office/officeart/2018/2/layout/IconLabelDescriptionList"/>
    <dgm:cxn modelId="{43AE8316-5A0F-47EE-8D61-A26A46489813}" type="presOf" srcId="{56CDDA04-DDD2-4F70-8176-10E0D88623EF}" destId="{6FD3250E-374B-40AC-9E6A-5E21483E07D9}" srcOrd="0" destOrd="0" presId="urn:microsoft.com/office/officeart/2018/2/layout/IconLabelDescriptionList"/>
    <dgm:cxn modelId="{7638291E-3F4F-4EA9-8FFF-444299166619}" srcId="{38061B8E-3705-44CD-A087-7BEA9BC6E13E}" destId="{B6830FD5-1C81-480F-88B0-98F51E07A7EB}" srcOrd="2" destOrd="0" parTransId="{A6D55FD4-6E4A-43A3-9799-15D1C397B26D}" sibTransId="{270B081D-DBC2-4325-BB96-D1ED71D4E8C9}"/>
    <dgm:cxn modelId="{35612D31-0FEE-4C37-9FED-99130A108F98}" type="presOf" srcId="{9B260F40-E6ED-4655-84CD-6979F79F9DA7}" destId="{18BC723E-47DA-4888-89F3-E9C99C397D35}" srcOrd="0" destOrd="2" presId="urn:microsoft.com/office/officeart/2018/2/layout/IconLabelDescriptionList"/>
    <dgm:cxn modelId="{8157F338-59AF-4ADF-B49A-B96C6A22A0D3}" type="presOf" srcId="{B6830FD5-1C81-480F-88B0-98F51E07A7EB}" destId="{1D0142EF-8968-4A1F-AAA2-B6329661F140}" srcOrd="0" destOrd="2" presId="urn:microsoft.com/office/officeart/2018/2/layout/IconLabelDescriptionList"/>
    <dgm:cxn modelId="{D13D385E-78AC-4F94-9655-4ECBBBE9C128}" type="presOf" srcId="{A35B90BE-7889-4A44-B3E6-5BC26083417E}" destId="{18BC723E-47DA-4888-89F3-E9C99C397D35}" srcOrd="0" destOrd="1" presId="urn:microsoft.com/office/officeart/2018/2/layout/IconLabelDescriptionList"/>
    <dgm:cxn modelId="{5F7F4163-9ED4-4D06-8165-5446195BDB27}" type="presOf" srcId="{38061B8E-3705-44CD-A087-7BEA9BC6E13E}" destId="{F915270C-2C03-4300-AA28-8D6DBB68B5C5}" srcOrd="0" destOrd="0" presId="urn:microsoft.com/office/officeart/2018/2/layout/IconLabelDescriptionList"/>
    <dgm:cxn modelId="{F1FFE159-415F-4DF1-82A7-DE0EFEA41CF9}" type="presOf" srcId="{A49DFF32-EBDC-43DE-91F8-F7C8319FA5DC}" destId="{CB434B1D-687B-426B-B076-5BB5D2745612}" srcOrd="0" destOrd="0" presId="urn:microsoft.com/office/officeart/2018/2/layout/IconLabelDescriptionList"/>
    <dgm:cxn modelId="{69885788-6A91-4E86-8F4C-238C76AFA83B}" srcId="{56CDDA04-DDD2-4F70-8176-10E0D88623EF}" destId="{9B260F40-E6ED-4655-84CD-6979F79F9DA7}" srcOrd="2" destOrd="0" parTransId="{6A0A5D24-80F8-4E16-A8F4-18316DFFC1BC}" sibTransId="{12643420-8ADA-47BF-9C9B-31DD10049B56}"/>
    <dgm:cxn modelId="{F4B3F192-4E3C-4190-9585-A9D0C5333899}" type="presOf" srcId="{A095C92C-E5C9-49FE-A374-225D1660D16D}" destId="{1D0142EF-8968-4A1F-AAA2-B6329661F140}" srcOrd="0" destOrd="1" presId="urn:microsoft.com/office/officeart/2018/2/layout/IconLabelDescriptionList"/>
    <dgm:cxn modelId="{F9C720B4-4C17-420A-A71A-B1D2183248AE}" srcId="{A49DFF32-EBDC-43DE-91F8-F7C8319FA5DC}" destId="{38061B8E-3705-44CD-A087-7BEA9BC6E13E}" srcOrd="1" destOrd="0" parTransId="{FFD040DB-CB4F-46FE-9FBA-60EC1AEE6E0E}" sibTransId="{B8321FE6-E78F-4032-BD31-5420EC94B6C0}"/>
    <dgm:cxn modelId="{E8D053C9-1A77-44BA-A23A-3A38931AB99E}" srcId="{56CDDA04-DDD2-4F70-8176-10E0D88623EF}" destId="{F2154EFE-27D6-46F0-A27B-D6CA024F198A}" srcOrd="0" destOrd="0" parTransId="{0E9CC1A4-AB8C-4A95-BFB7-1FD2EAAB9CDE}" sibTransId="{8F9B145B-51ED-4458-AACC-FF950CCBEB82}"/>
    <dgm:cxn modelId="{31237DE1-B021-4847-BDC2-1D7E9917E574}" srcId="{A49DFF32-EBDC-43DE-91F8-F7C8319FA5DC}" destId="{56CDDA04-DDD2-4F70-8176-10E0D88623EF}" srcOrd="0" destOrd="0" parTransId="{F5EF9349-1E90-4745-809E-BFA21BE7CFB8}" sibTransId="{648E06C6-E09E-45AD-9001-14699E782515}"/>
    <dgm:cxn modelId="{DAA855EB-2A70-4541-983A-682C961930BC}" srcId="{38061B8E-3705-44CD-A087-7BEA9BC6E13E}" destId="{A095C92C-E5C9-49FE-A374-225D1660D16D}" srcOrd="1" destOrd="0" parTransId="{C86D5E63-5852-45A9-B5E0-F918BC9131BA}" sibTransId="{D1AAB349-A686-43E0-A700-80C34E50F7A7}"/>
    <dgm:cxn modelId="{53E9B1F6-7B9D-4E6E-A56C-41FF0EFB23A8}" type="presOf" srcId="{F2154EFE-27D6-46F0-A27B-D6CA024F198A}" destId="{18BC723E-47DA-4888-89F3-E9C99C397D35}" srcOrd="0" destOrd="0" presId="urn:microsoft.com/office/officeart/2018/2/layout/IconLabelDescriptionList"/>
    <dgm:cxn modelId="{BCD56096-0D5B-405D-8278-3DE4808D78BF}" type="presParOf" srcId="{CB434B1D-687B-426B-B076-5BB5D2745612}" destId="{BC5DB45E-9530-46B9-AA3F-048D38832294}" srcOrd="0" destOrd="0" presId="urn:microsoft.com/office/officeart/2018/2/layout/IconLabelDescriptionList"/>
    <dgm:cxn modelId="{9963006F-1801-417F-8EA8-0EFB96FBC029}" type="presParOf" srcId="{BC5DB45E-9530-46B9-AA3F-048D38832294}" destId="{0CC5090A-044C-4B3D-B231-091ADC002FA8}" srcOrd="0" destOrd="0" presId="urn:microsoft.com/office/officeart/2018/2/layout/IconLabelDescriptionList"/>
    <dgm:cxn modelId="{C055FD9B-AA67-4AA2-A8F9-CD9EB572F57F}" type="presParOf" srcId="{BC5DB45E-9530-46B9-AA3F-048D38832294}" destId="{486DE1B7-FB2B-4411-876C-70443E0AD08E}" srcOrd="1" destOrd="0" presId="urn:microsoft.com/office/officeart/2018/2/layout/IconLabelDescriptionList"/>
    <dgm:cxn modelId="{796FDB0F-867E-4F46-BFE8-1F433362A647}" type="presParOf" srcId="{BC5DB45E-9530-46B9-AA3F-048D38832294}" destId="{6FD3250E-374B-40AC-9E6A-5E21483E07D9}" srcOrd="2" destOrd="0" presId="urn:microsoft.com/office/officeart/2018/2/layout/IconLabelDescriptionList"/>
    <dgm:cxn modelId="{223511F0-AEFF-4F9C-8325-9A6FA7792070}" type="presParOf" srcId="{BC5DB45E-9530-46B9-AA3F-048D38832294}" destId="{0B25F66C-FA00-4EC4-BC6E-F430E512C3C1}" srcOrd="3" destOrd="0" presId="urn:microsoft.com/office/officeart/2018/2/layout/IconLabelDescriptionList"/>
    <dgm:cxn modelId="{97BE2D42-2E89-48C4-B3AB-5CCCCDCCBD59}" type="presParOf" srcId="{BC5DB45E-9530-46B9-AA3F-048D38832294}" destId="{18BC723E-47DA-4888-89F3-E9C99C397D35}" srcOrd="4" destOrd="0" presId="urn:microsoft.com/office/officeart/2018/2/layout/IconLabelDescriptionList"/>
    <dgm:cxn modelId="{89EE8E52-88C8-4D93-98B2-4D8289382145}" type="presParOf" srcId="{CB434B1D-687B-426B-B076-5BB5D2745612}" destId="{81EB844E-5916-41FC-924B-99E765DC1688}" srcOrd="1" destOrd="0" presId="urn:microsoft.com/office/officeart/2018/2/layout/IconLabelDescriptionList"/>
    <dgm:cxn modelId="{D3C36B25-9FA5-4C90-985A-FCA2856F367E}" type="presParOf" srcId="{CB434B1D-687B-426B-B076-5BB5D2745612}" destId="{A5703235-999C-4878-AFF7-4B86F266C91D}" srcOrd="2" destOrd="0" presId="urn:microsoft.com/office/officeart/2018/2/layout/IconLabelDescriptionList"/>
    <dgm:cxn modelId="{A07A0FAC-2603-4112-87D5-A3623FEF2F02}" type="presParOf" srcId="{A5703235-999C-4878-AFF7-4B86F266C91D}" destId="{2CE3642D-EF53-472B-B000-2D9F8E06DA24}" srcOrd="0" destOrd="0" presId="urn:microsoft.com/office/officeart/2018/2/layout/IconLabelDescriptionList"/>
    <dgm:cxn modelId="{0A2B1D07-6B38-4E9C-9174-E5B0A78A021C}" type="presParOf" srcId="{A5703235-999C-4878-AFF7-4B86F266C91D}" destId="{6CF0923D-9C66-48DF-83EE-4E1064E10C7D}" srcOrd="1" destOrd="0" presId="urn:microsoft.com/office/officeart/2018/2/layout/IconLabelDescriptionList"/>
    <dgm:cxn modelId="{83E1BB21-D7E9-4D4E-8349-CF5F78E5093E}" type="presParOf" srcId="{A5703235-999C-4878-AFF7-4B86F266C91D}" destId="{F915270C-2C03-4300-AA28-8D6DBB68B5C5}" srcOrd="2" destOrd="0" presId="urn:microsoft.com/office/officeart/2018/2/layout/IconLabelDescriptionList"/>
    <dgm:cxn modelId="{B0D85816-C113-4236-AB33-B18B859309D5}" type="presParOf" srcId="{A5703235-999C-4878-AFF7-4B86F266C91D}" destId="{707820CE-2D11-4C5C-90B7-6546B8631995}" srcOrd="3" destOrd="0" presId="urn:microsoft.com/office/officeart/2018/2/layout/IconLabelDescriptionList"/>
    <dgm:cxn modelId="{0166D39B-27E2-4B26-B2AC-64F800203051}" type="presParOf" srcId="{A5703235-999C-4878-AFF7-4B86F266C91D}" destId="{1D0142EF-8968-4A1F-AAA2-B6329661F14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5090A-044C-4B3D-B231-091ADC002FA8}">
      <dsp:nvSpPr>
        <dsp:cNvPr id="0" name=""/>
        <dsp:cNvSpPr/>
      </dsp:nvSpPr>
      <dsp:spPr>
        <a:xfrm>
          <a:off x="765914" y="27597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3250E-374B-40AC-9E6A-5E21483E07D9}">
      <dsp:nvSpPr>
        <dsp:cNvPr id="0" name=""/>
        <dsp:cNvSpPr/>
      </dsp:nvSpPr>
      <dsp:spPr>
        <a:xfrm>
          <a:off x="765914" y="19445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 dirty="0"/>
            <a:t>Recall:</a:t>
          </a:r>
        </a:p>
      </dsp:txBody>
      <dsp:txXfrm>
        <a:off x="765914" y="1944528"/>
        <a:ext cx="4320000" cy="648000"/>
      </dsp:txXfrm>
    </dsp:sp>
    <dsp:sp modelId="{18BC723E-47DA-4888-89F3-E9C99C397D35}">
      <dsp:nvSpPr>
        <dsp:cNvPr id="0" name=""/>
        <dsp:cNvSpPr/>
      </dsp:nvSpPr>
      <dsp:spPr>
        <a:xfrm>
          <a:off x="765914" y="2665346"/>
          <a:ext cx="4320000" cy="1251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Faster R-CNN tried to "merge" RPN as part of one network (sliding window based)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sliding window: </a:t>
          </a:r>
          <a:r>
            <a:rPr lang="en-US" sz="1700" i="1" kern="1200" dirty="0"/>
            <a:t>k </a:t>
          </a:r>
          <a:r>
            <a:rPr lang="en-US" sz="1700" kern="1200" dirty="0"/>
            <a:t>anchor boxes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Calibri Light" panose="020F0302020204030204"/>
            </a:rPr>
            <a:t>Predict </a:t>
          </a:r>
          <a:r>
            <a:rPr lang="en-US" sz="1700" b="0" kern="1200" dirty="0" err="1">
              <a:latin typeface="Calibri Light" panose="020F0302020204030204"/>
            </a:rPr>
            <a:t>bbox</a:t>
          </a:r>
          <a:r>
            <a:rPr lang="en-US" sz="1700" b="0" kern="1200" dirty="0">
              <a:latin typeface="Calibri Light" panose="020F0302020204030204"/>
            </a:rPr>
            <a:t> regression and classification</a:t>
          </a:r>
        </a:p>
      </dsp:txBody>
      <dsp:txXfrm>
        <a:off x="765914" y="2665346"/>
        <a:ext cx="4320000" cy="1251487"/>
      </dsp:txXfrm>
    </dsp:sp>
    <dsp:sp modelId="{2CE3642D-EF53-472B-B000-2D9F8E06DA24}">
      <dsp:nvSpPr>
        <dsp:cNvPr id="0" name=""/>
        <dsp:cNvSpPr/>
      </dsp:nvSpPr>
      <dsp:spPr>
        <a:xfrm>
          <a:off x="5841914" y="27597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5270C-2C03-4300-AA28-8D6DBB68B5C5}">
      <dsp:nvSpPr>
        <dsp:cNvPr id="0" name=""/>
        <dsp:cNvSpPr/>
      </dsp:nvSpPr>
      <dsp:spPr>
        <a:xfrm>
          <a:off x="5841914" y="19445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 dirty="0"/>
            <a:t>DETR main principles:</a:t>
          </a:r>
        </a:p>
      </dsp:txBody>
      <dsp:txXfrm>
        <a:off x="5841914" y="1944528"/>
        <a:ext cx="4320000" cy="648000"/>
      </dsp:txXfrm>
    </dsp:sp>
    <dsp:sp modelId="{1D0142EF-8968-4A1F-AAA2-B6329661F140}">
      <dsp:nvSpPr>
        <dsp:cNvPr id="0" name=""/>
        <dsp:cNvSpPr/>
      </dsp:nvSpPr>
      <dsp:spPr>
        <a:xfrm>
          <a:off x="5841914" y="2665346"/>
          <a:ext cx="4320000" cy="1251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Calibri Light" panose="020F0302020204030204"/>
            </a:rPr>
            <a:t>One-shot detection – do away with surrogate predictions, postprocessing (NMS)</a:t>
          </a:r>
          <a:endParaRPr lang="en-US" sz="1700" kern="1200">
            <a:latin typeface="Calibri Light" panose="020F0302020204030204"/>
          </a:endParaRP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Calibri Light" panose="020F0302020204030204"/>
            </a:rPr>
            <a:t>Transformer (attention, attention, attention)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Calibri Light" panose="020F0302020204030204"/>
            </a:rPr>
            <a:t>Direct set prediction (set of </a:t>
          </a:r>
          <a:r>
            <a:rPr lang="en-US" sz="1700" b="1" kern="1200" dirty="0" err="1">
              <a:latin typeface="Calibri Light" panose="020F0302020204030204"/>
            </a:rPr>
            <a:t>bboxes</a:t>
          </a:r>
          <a:r>
            <a:rPr lang="en-US" sz="1700" b="1" kern="1200" dirty="0">
              <a:latin typeface="Calibri Light" panose="020F0302020204030204"/>
            </a:rPr>
            <a:t>)</a:t>
          </a:r>
        </a:p>
      </dsp:txBody>
      <dsp:txXfrm>
        <a:off x="5841914" y="2665346"/>
        <a:ext cx="4320000" cy="1251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5:58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10762 4758 16383 0 0,'0'0'0'0'0,"5"0"0"0"0,6 0 0 0 0,6 0 0 0 0,8 0 0 0 0,10 0 0 0 0,8-3 0 0 0,8-3 0 0 0,4-2 0 0 0,3-3 0 0 0,2 0 0 0 0,0-2 0 0 0,1-2 0 0 0,0-1 0 0 0,-3-1 0 0 0,-3-1 0 0 0,-4 0 0 0 0,-1 0 0 0 0,-1-1 0 0 0,1 1 0 0 0,1 0 0 0 0,2-1 0 0 0,0 0 0 0 0,-1 0 0 0 0,-1 2 0 0 0,-3 3 0 0 0,-3 2 0 0 0,-5 2 0 0 0,-5 3 0 0 0,-3 2 0 0 0,-3 2 0 0 0,-1 0 0 0 0,2 0 0 0 0,0-2 0 0 0,1 0 0 0 0,1-2 0 0 0,3 1 0 0 0,-2-1 0 0 0,1 0 0 0 0,0-2 0 0 0,-1 1 0 0 0,-1 0 0 0 0,4 0 0 0 0,4-1 0 0 0,3-1 0 0 0,2 0 0 0 0,1 0 0 0 0,3 2 0 0 0,1 0 0 0 0,1 1 0 0 0,0 1 0 0 0,-1-1 0 0 0,-3 2 0 0 0,0-1 0 0 0,0 2 0 0 0,4 1 0 0 0,2 0 0 0 0,0 1 0 0 0,4-1 0 0 0,2 0 0 0 0,5-1 0 0 0,6-1 0 0 0,3 0 0 0 0,-1 2 0 0 0,2 0 0 0 0,5 1 0 0 0,8-3 0 0 0,9-1 0 0 0,6-1 0 0 0,10-2 0 0 0,9-3 0 0 0,4-3 0 0 0,3-2 0 0 0,-2 1 0 0 0,-4 0 0 0 0,-9 1 0 0 0,-11 0 0 0 0,-8 0 0 0 0,-4 1 0 0 0,0 0 0 0 0,0 2 0 0 0,-3 1 0 0 0,-3 2 0 0 0,-3 2 0 0 0,-4 1 0 0 0,-6 3 0 0 0,-7 0 0 0 0,-6 2 0 0 0,-6 1 0 0 0,-6-1 0 0 0,0 0 0 0 0,-1-2 0 0 0,-3 1 0 0 0,-2 0 0 0 0,-4 1 0 0 0,-2 1 0 0 0,-3-1 0 0 0,-2 1 0 0 0,-3 0 0 0 0,-4 1 0 0 0,-4 1 0 0 0,-3 1 0 0 0,-1 1 0 0 0,-2 1 0 0 0,1 2 0 0 0,-1 2 0 0 0,1 3 0 0 0,-1 3 0 0 0,1 3 0 0 0,-1 2 0 0 0,1 1 0 0 0,0 3 0 0 0,-2 0 0 0 0,1 2 0 0 0,-1 2 0 0 0,2 2 0 0 0,0 3 0 0 0,1 2 0 0 0,2 2 0 0 0,-1 0 0 0 0,-1 0 0 0 0,0 0 0 0 0,-2-2 0 0 0,-2-3 0 0 0,-2-1 0 0 0,-2-4 0 0 0,-2-2 0 0 0,-2 0 0 0 0,-1-1 0 0 0,-1 1 0 0 0,0 0 0 0 0,-1 1 0 0 0,1 1 0 0 0,-1 1 0 0 0,1-1 0 0 0,0-1 0 0 0,0-1 0 0 0,-1-1 0 0 0,-1-2 0 0 0,-2-2 0 0 0,-4 0 0 0 0,-2 0 0 0 0,-2 1 0 0 0,-1 2 0 0 0,-3 2 0 0 0,0 0 0 0 0,-1-1 0 0 0,-1 0 0 0 0,0 2 0 0 0,-2-2 0 0 0,-3 2 0 0 0,-3 2 0 0 0,-3 2 0 0 0,-5 3 0 0 0,-4 3 0 0 0,-3 0 0 0 0,-3 0 0 0 0,1-1 0 0 0,1-4 0 0 0,0-4 0 0 0,2-4 0 0 0,3-4 0 0 0,4-3 0 0 0,2-2 0 0 0,1-2 0 0 0,0-1 0 0 0,-1-2 0 0 0,-2-1 0 0 0,-1-2 0 0 0,1 0 0 0 0,0 0 0 0 0,1-1 0 0 0,2 1 0 0 0,2-1 0 0 0,1 1 0 0 0,2 0 0 0 0,-1-1 0 0 0,1 2 0 0 0,0-1 0 0 0,-3 1 0 0 0,-2 0 0 0 0,0-1 0 0 0,-5 0 0 0 0,-2 0 0 0 0,1 0 0 0 0,0 1 0 0 0,-1-1 0 0 0,-2 0 0 0 0,-2-1 0 0 0,-3 0 0 0 0,-4 1 0 0 0,1-2 0 0 0,1 1 0 0 0,3-1 0 0 0,3 0 0 0 0,2-1 0 0 0,5-1 0 0 0,3 1 0 0 0,2-1 0 0 0,1 0 0 0 0,0 0 0 0 0,-2 1 0 0 0,-2 0 0 0 0,-1 0 0 0 0,-1 0 0 0 0,0 0 0 0 0,1 0 0 0 0,1 0 0 0 0,2-2 0 0 0,0 1 0 0 0,2 0 0 0 0,-1 1 0 0 0,-2 1 0 0 0,-1 0 0 0 0,-3 0 0 0 0,-4 1 0 0 0,-3 0 0 0 0,-3 0 0 0 0,-1 1 0 0 0,-1 0 0 0 0,3-1 0 0 0,2-1 0 0 0,2-2 0 0 0,1 0 0 0 0,1 0 0 0 0,2 1 0 0 0,2-1 0 0 0,1-1 0 0 0,0 0 0 0 0,1 1 0 0 0,1 0 0 0 0,0 0 0 0 0,0 0 0 0 0,1-1 0 0 0,-1 0 0 0 0,-2 1 0 0 0,-2 0 0 0 0,-3 0 0 0 0,-3 1 0 0 0,-4 1 0 0 0,-2 0 0 0 0,-2 3 0 0 0,-4 1 0 0 0,0 1 0 0 0,-1 0 0 0 0,0 0 0 0 0,2-1 0 0 0,1 0 0 0 0,-2-1 0 0 0,-1 1 0 0 0,-1 0 0 0 0,1-1 0 0 0,1 0 0 0 0,0-1 0 0 0,1 0 0 0 0,2-2 0 0 0,1 1 0 0 0,2-1 0 0 0,1 0 0 0 0,2-2 0 0 0,-1 0 0 0 0,-3 0 0 0 0,-5 1 0 0 0,-6 0 0 0 0,-4 2 0 0 0,-3-1 0 0 0,-4 1 0 0 0,-3 0 0 0 0,0 0 0 0 0,3-1 0 0 0,4 0 0 0 0,0 0 0 0 0,-1-1 0 0 0,2 0 0 0 0,0-2 0 0 0,4 0 0 0 0,-1-1 0 0 0,3 0 0 0 0,2-4 0 0 0,5-1 0 0 0,5-2 0 0 0,5-1 0 0 0,4-1 0 0 0,5 0 0 0 0,2-3 0 0 0,2-2 0 0 0,0-3 0 0 0,1-2 0 0 0,-2-4 0 0 0,-3-3 0 0 0,-1-5 0 0 0,-3-3 0 0 0,-2-1 0 0 0,-2-1 0 0 0,1 0 0 0 0,0-2 0 0 0,1 1 0 0 0,2 0 0 0 0,2-1 0 0 0,2 2 0 0 0,2 0 0 0 0,2 1 0 0 0,3-1 0 0 0,2-2 0 0 0,4-1 0 0 0,1 0 0 0 0,3 1 0 0 0,1 0 0 0 0,2-1 0 0 0,1-3 0 0 0,1-1 0 0 0,2 2 0 0 0,0-1 0 0 0,1 1 0 0 0,2 3 0 0 0,1 2 0 0 0,2 5 0 0 0,0 4 0 0 0,2 4 0 0 0,2 3 0 0 0,0 1 0 0 0,1 1 0 0 0,1 0 0 0 0,0 2 0 0 0,1-1 0 0 0,1 1 0 0 0,3 1 0 0 0,2 2 0 0 0,0 1 0 0 0,1 1 0 0 0,-1 1 0 0 0,-1 2 0 0 0,-1 1 0 0 0,0 3 0 0 0,0 2 0 0 0,-2 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5:58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16490 6951 16383 0 0,'1'0'0'0'0,"3"0"0"0"0,11-1 0 0 0,12-1 0 0 0,13-2 0 0 0,24-4 0 0 0,20-4 0 0 0,6-2 0 0 0,0-1 0 0 0,3-2 0 0 0,3-1 0 0 0,3 0 0 0 0,2 1 0 0 0,-2 2 0 0 0,-2 1 0 0 0,-4 0 0 0 0,-6 2 0 0 0,-8 1 0 0 0,-7 2 0 0 0,-7 2 0 0 0,-10 3 0 0 0,-6 0 0 0 0,-1 1 0 0 0,-3 0 0 0 0,-3 0 0 0 0,-2-1 0 0 0,0 1 0 0 0,0 0 0 0 0,1 1 0 0 0,-2 0 0 0 0,0-1 0 0 0,0-3 0 0 0,-1-1 0 0 0,0-1 0 0 0,0 1 0 0 0,4-2 0 0 0,3-2 0 0 0,5-2 0 0 0,5-2 0 0 0,4 0 0 0 0,6-2 0 0 0,3-2 0 0 0,2 0 0 0 0,0-1 0 0 0,0 1 0 0 0,-2 1 0 0 0,-1 3 0 0 0,0 0 0 0 0,-2 2 0 0 0,-2 1 0 0 0,-2 2 0 0 0,-3 2 0 0 0,-3 2 0 0 0,0 1 0 0 0,1 2 0 0 0,-2 1 0 0 0,-2 1 0 0 0,-3 0 0 0 0,0 1 0 0 0,3-2 0 0 0,1-1 0 0 0,4 1 0 0 0,5 0 0 0 0,1 1 0 0 0,1 0 0 0 0,0 0 0 0 0,-1 1 0 0 0,-2 0 0 0 0,-1 0 0 0 0,-2 0 0 0 0,-1 2 0 0 0,2 2 0 0 0,1 1 0 0 0,4 3 0 0 0,2 4 0 0 0,5 2 0 0 0,3 2 0 0 0,0 0 0 0 0,-2 1 0 0 0,-1-1 0 0 0,-4 1 0 0 0,-6-1 0 0 0,-5-2 0 0 0,-5 0 0 0 0,-3-1 0 0 0,0 2 0 0 0,-2 1 0 0 0,-1 0 0 0 0,0 2 0 0 0,0 1 0 0 0,0 2 0 0 0,1 1 0 0 0,7 7 0 0 0,2 2 0 0 0,0 0 0 0 0,-1 0 0 0 0,-3-1 0 0 0,-4-1 0 0 0,-5-1 0 0 0,-5-1 0 0 0,-6-3 0 0 0,-4-2 0 0 0,-5-3 0 0 0,-3-2 0 0 0,-3-2 0 0 0,-4 0 0 0 0,-3 0 0 0 0,-1 1 0 0 0,-2 0 0 0 0,-2 1 0 0 0,-2 1 0 0 0,-1-1 0 0 0,-1 1 0 0 0,0 1 0 0 0,0 3 0 0 0,-2 3 0 0 0,-5 2 0 0 0,-5 0 0 0 0,-6 2 0 0 0,-7 1 0 0 0,-5 3 0 0 0,-5 1 0 0 0,-3 1 0 0 0,-1 0 0 0 0,2-2 0 0 0,3-4 0 0 0,1-3 0 0 0,3-4 0 0 0,2-3 0 0 0,-1-2 0 0 0,0-1 0 0 0,-2-1 0 0 0,-1 0 0 0 0,-3 1 0 0 0,-3 1 0 0 0,0 1 0 0 0,-1-1 0 0 0,-1 0 0 0 0,1-1 0 0 0,3-1 0 0 0,2-2 0 0 0,4-2 0 0 0,1 0 0 0 0,1-1 0 0 0,-3 0 0 0 0,-3 1 0 0 0,-5 0 0 0 0,-3 2 0 0 0,-4 3 0 0 0,-3 1 0 0 0,-3 2 0 0 0,0 1 0 0 0,2 2 0 0 0,4-1 0 0 0,5-1 0 0 0,3 0 0 0 0,4-1 0 0 0,2-1 0 0 0,3-1 0 0 0,1-2 0 0 0,3-1 0 0 0,0-1 0 0 0,1-2 0 0 0,-3 1 0 0 0,-4-1 0 0 0,-4 0 0 0 0,-6 2 0 0 0,-5 2 0 0 0,-6 2 0 0 0,-6 2 0 0 0,-7 2 0 0 0,-5 0 0 0 0,-4-1 0 0 0,-4 1 0 0 0,-2-1 0 0 0,1 0 0 0 0,2 1 0 0 0,5-3 0 0 0,6-3 0 0 0,-2-2 0 0 0,-6-2 0 0 0,-2-2 0 0 0,-2-1 0 0 0,0-1 0 0 0,2-3 0 0 0,3-1 0 0 0,4-2 0 0 0,3-1 0 0 0,5 0 0 0 0,8 0 0 0 0,2 0 0 0 0,1-1 0 0 0,0 1 0 0 0,-1 0 0 0 0,-1 0 0 0 0,-1 0 0 0 0,-2 0 0 0 0,-2 0 0 0 0,1-2 0 0 0,-1 0 0 0 0,4-1 0 0 0,1 0 0 0 0,-1-3 0 0 0,-2 0 0 0 0,3-1 0 0 0,-1-1 0 0 0,-1-1 0 0 0,-2-1 0 0 0,-1-2 0 0 0,-2-1 0 0 0,0 0 0 0 0,1 0 0 0 0,2 1 0 0 0,5 2 0 0 0,7 1 0 0 0,5 1 0 0 0,4-1 0 0 0,3 2 0 0 0,2-1 0 0 0,2-1 0 0 0,2 0 0 0 0,1-2 0 0 0,0-2 0 0 0,-1-1 0 0 0,-1-2 0 0 0,-1 1 0 0 0,0-1 0 0 0,-1-1 0 0 0,-2 1 0 0 0,-5-1 0 0 0,-4-1 0 0 0,-3-2 0 0 0,-3-1 0 0 0,-2-4 0 0 0,-3-3 0 0 0,-1-3 0 0 0,-1-3 0 0 0,2-2 0 0 0,4 1 0 0 0,2-2 0 0 0,0-1 0 0 0,-1-2 0 0 0,2-1 0 0 0,4-1 0 0 0,2 1 0 0 0,3 1 0 0 0,5 3 0 0 0,4 3 0 0 0,4 4 0 0 0,3 3 0 0 0,4 2 0 0 0,2 4 0 0 0,2 1 0 0 0,1 2 0 0 0,0 1 0 0 0,2 2 0 0 0,1 1 0 0 0,2 2 0 0 0,1 1 0 0 0,3 0 0 0 0,0 1 0 0 0,1 0 0 0 0,0-1 0 0 0,0 0 0 0 0,1-1 0 0 0,-1-1 0 0 0,3 1 0 0 0,1 1 0 0 0,0 0 0 0 0,2 1 0 0 0,1 0 0 0 0,0 1 0 0 0,1 0 0 0 0,1 1 0 0 0,0 2 0 0 0,-1 0 0 0 0,0 2 0 0 0,-1 0 0 0 0,1 1 0 0 0,-1-1 0 0 0,1 0 0 0 0,-1 0 0 0 0,0-1 0 0 0,0-1 0 0 0,0 1 0 0 0,1 0 0 0 0,1-1 0 0 0,-1 0 0 0 0,-1-1 0 0 0,-1 1 0 0 0,0-1 0 0 0,-1 0 0 0 0,-1 0 0 0 0,1 0 0 0 0,0 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39:46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16517 4921 16383 0 0,'1'0'0'0'0,"3"-1"0"0"0,8-2 0 0 0,13-3 0 0 0,13-6 0 0 0,10-4 0 0 0,12-6 0 0 0,10-4 0 0 0,7-1 0 0 0,-2 1 0 0 0,-4 2 0 0 0,0 1 0 0 0,1 3 0 0 0,-2 1 0 0 0,0 4 0 0 0,2 2 0 0 0,3 1 0 0 0,2 2 0 0 0,1 3 0 0 0,-5 2 0 0 0,-8 2 0 0 0,-5 1 0 0 0,-2-1 0 0 0,-2 1 0 0 0,0 0 0 0 0,0 0 0 0 0,2-2 0 0 0,0 1 0 0 0,-2 0 0 0 0,-1-2 0 0 0,-4 0 0 0 0,-4 0 0 0 0,-4 1 0 0 0,-5 0 0 0 0,-4 0 0 0 0,-2 0 0 0 0,0-2 0 0 0,0 0 0 0 0,1-1 0 0 0,3 1 0 0 0,0-1 0 0 0,0 0 0 0 0,0 1 0 0 0,-2 0 0 0 0,-2 2 0 0 0,-2 0 0 0 0,-2 2 0 0 0,-1 1 0 0 0,1 1 0 0 0,0 0 0 0 0,2 0 0 0 0,2 0 0 0 0,2 0 0 0 0,3 0 0 0 0,1 1 0 0 0,2-1 0 0 0,1 0 0 0 0,0 0 0 0 0,-1 0 0 0 0,1 0 0 0 0,-1 0 0 0 0,-1 0 0 0 0,-1 0 0 0 0,0 0 0 0 0,1 0 0 0 0,0 0 0 0 0,1 1 0 0 0,-1 1 0 0 0,0 0 0 0 0,-4 0 0 0 0,0 0 0 0 0,0 2 0 0 0,1 1 0 0 0,2 0 0 0 0,-1-1 0 0 0,2 2 0 0 0,0 1 0 0 0,1 0 0 0 0,0 0 0 0 0,0-1 0 0 0,-1 1 0 0 0,-2-1 0 0 0,-1 0 0 0 0,-5 1 0 0 0,-1 1 0 0 0,-1 0 0 0 0,0 1 0 0 0,1 0 0 0 0,-1-1 0 0 0,1 1 0 0 0,2 1 0 0 0,2 0 0 0 0,0 1 0 0 0,1 2 0 0 0,-3-2 0 0 0,0 0 0 0 0,1 0 0 0 0,0-1 0 0 0,-1 0 0 0 0,0 1 0 0 0,-1-1 0 0 0,-2 0 0 0 0,-2 0 0 0 0,-3 0 0 0 0,-2-1 0 0 0,-2 1 0 0 0,-3-1 0 0 0,-2 0 0 0 0,0-1 0 0 0,-1 1 0 0 0,1 0 0 0 0,0 0 0 0 0,1 2 0 0 0,1 0 0 0 0,-1 1 0 0 0,0 1 0 0 0,-2 0 0 0 0,-3-1 0 0 0,-1-1 0 0 0,-2-1 0 0 0,-2-1 0 0 0,-1 2 0 0 0,-3 0 0 0 0,0 0 0 0 0,-2 3 0 0 0,-1 0 0 0 0,-1 1 0 0 0,-4 2 0 0 0,-4 0 0 0 0,-3 1 0 0 0,-3 1 0 0 0,-3-1 0 0 0,-1-1 0 0 0,-1 0 0 0 0,0 1 0 0 0,-2-1 0 0 0,-1-1 0 0 0,0 1 0 0 0,0 0 0 0 0,1 1 0 0 0,1 1 0 0 0,2-2 0 0 0,1-2 0 0 0,1 0 0 0 0,0 0 0 0 0,0 1 0 0 0,0 0 0 0 0,1 0 0 0 0,1 0 0 0 0,0 0 0 0 0,2 1 0 0 0,0-1 0 0 0,0 0 0 0 0,2-1 0 0 0,0-1 0 0 0,2 0 0 0 0,1-1 0 0 0,-1 0 0 0 0,0 1 0 0 0,-2 0 0 0 0,-2 2 0 0 0,-3 0 0 0 0,0 2 0 0 0,-2 0 0 0 0,2-1 0 0 0,-1-1 0 0 0,1-1 0 0 0,2-3 0 0 0,0-2 0 0 0,2 0 0 0 0,-1-1 0 0 0,0 0 0 0 0,-1 0 0 0 0,-1 1 0 0 0,0-1 0 0 0,-1 1 0 0 0,0-1 0 0 0,-2 1 0 0 0,2 0 0 0 0,0-2 0 0 0,2 0 0 0 0,-1 0 0 0 0,-2-1 0 0 0,-1 1 0 0 0,-1 0 0 0 0,-1 1 0 0 0,-4 0 0 0 0,-3 1 0 0 0,-1-2 0 0 0,-2 1 0 0 0,1-1 0 0 0,1 1 0 0 0,1-1 0 0 0,-2-1 0 0 0,-3 1 0 0 0,-3 0 0 0 0,-3-1 0 0 0,-4 1 0 0 0,-2 0 0 0 0,-3 0 0 0 0,0 0 0 0 0,-1 0 0 0 0,3 0 0 0 0,3-1 0 0 0,0 0 0 0 0,-1 1 0 0 0,-2-1 0 0 0,-3 0 0 0 0,-3-1 0 0 0,-4 0 0 0 0,-2-1 0 0 0,-1 2 0 0 0,-2-1 0 0 0,-1-1 0 0 0,2-1 0 0 0,3-2 0 0 0,0-1 0 0 0,-1 1 0 0 0,-4 0 0 0 0,-5 1 0 0 0,-7-1 0 0 0,-4 0 0 0 0,-2 0 0 0 0,2 1 0 0 0,4 1 0 0 0,5-1 0 0 0,5 2 0 0 0,8-1 0 0 0,9 0 0 0 0,7 1 0 0 0,5-2 0 0 0,4-1 0 0 0,1 0 0 0 0,3-1 0 0 0,0-1 0 0 0,2 0 0 0 0,0 1 0 0 0,0 0 0 0 0,0 1 0 0 0,2 0 0 0 0,0-1 0 0 0,-2 0 0 0 0,-2 0 0 0 0,-3-1 0 0 0,0-1 0 0 0,-3 0 0 0 0,-3-2 0 0 0,-1-2 0 0 0,-3-2 0 0 0,-2-3 0 0 0,-1-3 0 0 0,-1-1 0 0 0,-3-3 0 0 0,1 0 0 0 0,3 0 0 0 0,-1-1 0 0 0,1 0 0 0 0,1-1 0 0 0,0-1 0 0 0,0-3 0 0 0,1-2 0 0 0,3 0 0 0 0,4 0 0 0 0,4 2 0 0 0,4 2 0 0 0,3-1 0 0 0,3-1 0 0 0,2 0 0 0 0,3-1 0 0 0,2 1 0 0 0,1 0 0 0 0,0-2 0 0 0,2 0 0 0 0,-1-1 0 0 0,2 0 0 0 0,1 0 0 0 0,1 0 0 0 0,0 0 0 0 0,-1 0 0 0 0,-1-1 0 0 0,-2 1 0 0 0,1 1 0 0 0,0 1 0 0 0,-1 3 0 0 0,2 0 0 0 0,2 2 0 0 0,1 2 0 0 0,3 2 0 0 0,2 2 0 0 0,0 1 0 0 0,1 1 0 0 0,1-1 0 0 0,-1 0 0 0 0,1-1 0 0 0,2 0 0 0 0,3-1 0 0 0,3 0 0 0 0,4 0 0 0 0,2 0 0 0 0,3 0 0 0 0,-1 2 0 0 0,1 0 0 0 0,1 0 0 0 0,-1-1 0 0 0,-1 2 0 0 0,-1-1 0 0 0,-3 1 0 0 0,-1 2 0 0 0,-2 1 0 0 0,-1 1 0 0 0,0 0 0 0 0,-1 2 0 0 0,-2-2 0 0 0,-2 0 0 0 0,-2-2 0 0 0,0 0 0 0 0,-2-2 0 0 0,0-1 0 0 0,-1 2 0 0 0,1-1 0 0 0,0 2 0 0 0,-1 0 0 0 0,1 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6:24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7303 3608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6:24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7303 3608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6:24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5953 3345 16383 0 0,'0'-1'0'0'0,"-1"0"0"0"0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6:24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6030 6545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6:24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8240 3337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6:24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8240 3337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19:16:24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8240 3337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59:30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10500 7877 16383 0 0,'1'0'0'0'0,"4"0"0"0"0,11-5 0 0 0,18-7 0 0 0,20-8 0 0 0,30-9 0 0 0,32-8 0 0 0,11 0 0 0 0,1 3 0 0 0,2 4 0 0 0,-6 7 0 0 0,-14 5 0 0 0,-13 5 0 0 0,-10 4 0 0 0,-3 3 0 0 0,2 2 0 0 0,1 1 0 0 0,3 0 0 0 0,1 0 0 0 0,-2 2 0 0 0,0-1 0 0 0,5 2 0 0 0,-2 0 0 0 0,-6 0 0 0 0,-3 0 0 0 0,-3 0 0 0 0,3 0 0 0 0,0 0 0 0 0,-1 0 0 0 0,-1-1 0 0 0,-2-1 0 0 0,-4-1 0 0 0,-3 1 0 0 0,-5 0 0 0 0,-4 0 0 0 0,-5 1 0 0 0,-3 1 0 0 0,-2 0 0 0 0,3 0 0 0 0,1 0 0 0 0,5 1 0 0 0,3 1 0 0 0,2 2 0 0 0,1 2 0 0 0,-1 0 0 0 0,-2 0 0 0 0,-5 1 0 0 0,-4 0 0 0 0,-7 2 0 0 0,-4 0 0 0 0,-3 0 0 0 0,1 2 0 0 0,2 0 0 0 0,1 2 0 0 0,2 2 0 0 0,7 3 0 0 0,5 3 0 0 0,1 1 0 0 0,0 3 0 0 0,-3 0 0 0 0,-5 0 0 0 0,-4 0 0 0 0,-4-1 0 0 0,-3-1 0 0 0,-5-2 0 0 0,-4 0 0 0 0,-4 0 0 0 0,-4-2 0 0 0,-1 1 0 0 0,-3 0 0 0 0,-1 1 0 0 0,0 0 0 0 0,-1 0 0 0 0,-1-1 0 0 0,-1 1 0 0 0,1 2 0 0 0,0 1 0 0 0,-1 3 0 0 0,-1 1 0 0 0,-1 3 0 0 0,-1-1 0 0 0,-2 0 0 0 0,-1-1 0 0 0,-3 0 0 0 0,0-3 0 0 0,-2-2 0 0 0,-1-2 0 0 0,-1-1 0 0 0,-2-2 0 0 0,-1 0 0 0 0,0 1 0 0 0,-1 1 0 0 0,0 0 0 0 0,-1 0 0 0 0,1 0 0 0 0,0 0 0 0 0,-1 1 0 0 0,-1-1 0 0 0,-2 0 0 0 0,-2-2 0 0 0,-2-1 0 0 0,-4-1 0 0 0,-3-2 0 0 0,-3 0 0 0 0,-3 0 0 0 0,-1-1 0 0 0,-2 1 0 0 0,-2-1 0 0 0,-1-1 0 0 0,1-1 0 0 0,1 0 0 0 0,1-2 0 0 0,-1 2 0 0 0,0-1 0 0 0,-2 1 0 0 0,-1 0 0 0 0,-3-1 0 0 0,-1-1 0 0 0,-3 1 0 0 0,-1-2 0 0 0,1 0 0 0 0,2-1 0 0 0,1 1 0 0 0,1 0 0 0 0,-1 0 0 0 0,0 1 0 0 0,0 1 0 0 0,-1 0 0 0 0,0 0 0 0 0,-1 1 0 0 0,-1 2 0 0 0,-4 0 0 0 0,-4 0 0 0 0,-1 0 0 0 0,-2 0 0 0 0,-4 2 0 0 0,-8 0 0 0 0,-6 0 0 0 0,-3 0 0 0 0,-2 0 0 0 0,-1 0 0 0 0,2-1 0 0 0,4-1 0 0 0,5-1 0 0 0,8-2 0 0 0,5-2 0 0 0,8-1 0 0 0,2-1 0 0 0,2-2 0 0 0,0 0 0 0 0,-1 0 0 0 0,-1 1 0 0 0,-1-1 0 0 0,-1 0 0 0 0,-1 1 0 0 0,0-1 0 0 0,-1 1 0 0 0,3-1 0 0 0,5 0 0 0 0,2 0 0 0 0,2 0 0 0 0,1 0 0 0 0,1-1 0 0 0,-1 0 0 0 0,0 0 0 0 0,0 0 0 0 0,-1 1 0 0 0,-1-1 0 0 0,-1 0 0 0 0,3 0 0 0 0,-1 0 0 0 0,0 1 0 0 0,-1-1 0 0 0,0-1 0 0 0,-3 0 0 0 0,-3 0 0 0 0,-4 0 0 0 0,-8 0 0 0 0,-9 0 0 0 0,-6 0 0 0 0,-3 0 0 0 0,1-1 0 0 0,4 0 0 0 0,2-1 0 0 0,-1-1 0 0 0,-4 0 0 0 0,-5 0 0 0 0,-4 0 0 0 0,-3 0 0 0 0,-2 0 0 0 0,0-1 0 0 0,0-2 0 0 0,1-1 0 0 0,2-1 0 0 0,6-1 0 0 0,7 0 0 0 0,4-3 0 0 0,4 0 0 0 0,6-1 0 0 0,5-1 0 0 0,4-1 0 0 0,3 0 0 0 0,2-2 0 0 0,0-2 0 0 0,-1 0 0 0 0,0 0 0 0 0,0-2 0 0 0,-3-3 0 0 0,-3-4 0 0 0,-2-2 0 0 0,-1-2 0 0 0,-1-2 0 0 0,0-2 0 0 0,0 0 0 0 0,4 1 0 0 0,5 1 0 0 0,4 2 0 0 0,6 1 0 0 0,4 2 0 0 0,5 1 0 0 0,2 1 0 0 0,1-2 0 0 0,2-2 0 0 0,0-2 0 0 0,1 0 0 0 0,1 0 0 0 0,1 0 0 0 0,0 1 0 0 0,0 1 0 0 0,1 2 0 0 0,1 2 0 0 0,1 2 0 0 0,2-1 0 0 0,0 1 0 0 0,2-2 0 0 0,0-1 0 0 0,1-1 0 0 0,0-1 0 0 0,0 0 0 0 0,0 1 0 0 0,0 1 0 0 0,0 0 0 0 0,0 0 0 0 0,0-2 0 0 0,0 0 0 0 0,0 1 0 0 0,0-2 0 0 0,0 0 0 0 0,0 0 0 0 0,0 2 0 0 0,0 2 0 0 0,0 1 0 0 0,0 2 0 0 0,0 2 0 0 0,0 5 0 0 0,0 4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59:30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15824 9391 16383 0 0,'1'0'0'0'0,"7"0"0"0"0,16-1 0 0 0,20-1 0 0 0,23-4 0 0 0,20-4 0 0 0,20-3 0 0 0,20-3 0 0 0,11-1 0 0 0,12-3 0 0 0,13 1 0 0 0,14 0 0 0 0,9 2 0 0 0,6-1 0 0 0,3 1 0 0 0,-2 1 0 0 0,-7 2 0 0 0,-15 2 0 0 0,-23 3 0 0 0,-19 3 0 0 0,-12 3 0 0 0,-9 2 0 0 0,-13 0 0 0 0,-12 1 0 0 0,-12 1 0 0 0,-7 1 0 0 0,-4 1 0 0 0,-4 0 0 0 0,-2 1 0 0 0,0 1 0 0 0,-1 1 0 0 0,0 0 0 0 0,4 2 0 0 0,2 1 0 0 0,3 0 0 0 0,0 0 0 0 0,1 1 0 0 0,-2 0 0 0 0,-2 0 0 0 0,-1-2 0 0 0,-3-2 0 0 0,0-1 0 0 0,0-1 0 0 0,0 0 0 0 0,3-2 0 0 0,4 1 0 0 0,8 0 0 0 0,3 1 0 0 0,7 2 0 0 0,6-1 0 0 0,3 0 0 0 0,-3 0 0 0 0,-2 0 0 0 0,-5 1 0 0 0,-5-1 0 0 0,0-1 0 0 0,2-2 0 0 0,4-1 0 0 0,11 0 0 0 0,12-1 0 0 0,14 0 0 0 0,13 0 0 0 0,8 0 0 0 0,-1-1 0 0 0,-2 1 0 0 0,-5 0 0 0 0,-12 0 0 0 0,-7 0 0 0 0,-4 0 0 0 0,2 0 0 0 0,5 0 0 0 0,0 0 0 0 0,-1 1 0 0 0,4 2 0 0 0,0 2 0 0 0,1 2 0 0 0,0 1 0 0 0,-9 1 0 0 0,-9-1 0 0 0,-4 1 0 0 0,-2 1 0 0 0,-1 1 0 0 0,-2 0 0 0 0,0-1 0 0 0,1 0 0 0 0,0 0 0 0 0,-3 0 0 0 0,0-1 0 0 0,-2 1 0 0 0,-4-1 0 0 0,-5-1 0 0 0,-4 0 0 0 0,-3 2 0 0 0,-5 0 0 0 0,-4 0 0 0 0,-5-1 0 0 0,-7 0 0 0 0,-6 1 0 0 0,-7 0 0 0 0,-5-1 0 0 0,-6 2 0 0 0,-3 2 0 0 0,-3 1 0 0 0,0 1 0 0 0,1 2 0 0 0,2 2 0 0 0,5 4 0 0 0,4 4 0 0 0,2 2 0 0 0,2 2 0 0 0,1 2 0 0 0,2 2 0 0 0,3 2 0 0 0,1 0 0 0 0,-1-1 0 0 0,2-2 0 0 0,3 0 0 0 0,3 2 0 0 0,5 2 0 0 0,4 3 0 0 0,2 1 0 0 0,-2 0 0 0 0,-2 0 0 0 0,-5-2 0 0 0,-7-3 0 0 0,-8-4 0 0 0,-5-1 0 0 0,-4-2 0 0 0,-4-3 0 0 0,-3-1 0 0 0,-1 0 0 0 0,0 2 0 0 0,0 2 0 0 0,1 1 0 0 0,1 2 0 0 0,0 3 0 0 0,-1-2 0 0 0,-2 0 0 0 0,-2-1 0 0 0,-4-3 0 0 0,-2-3 0 0 0,-2-2 0 0 0,-2 1 0 0 0,-1 0 0 0 0,0 1 0 0 0,-1 0 0 0 0,1 1 0 0 0,1 2 0 0 0,1 3 0 0 0,2 2 0 0 0,1 0 0 0 0,-1-1 0 0 0,1 1 0 0 0,0 1 0 0 0,0 3 0 0 0,0 1 0 0 0,-1 4 0 0 0,0 3 0 0 0,-1 4 0 0 0,0 3 0 0 0,-2 2 0 0 0,1 1 0 0 0,0 0 0 0 0,-1-1 0 0 0,0-3 0 0 0,0 4 0 0 0,1 3 0 0 0,-1 0 0 0 0,0 2 0 0 0,0-1 0 0 0,-1 0 0 0 0,-2 0 0 0 0,-1 1 0 0 0,-2 0 0 0 0,0-2 0 0 0,-1-3 0 0 0,-1-2 0 0 0,-2 0 0 0 0,-3 1 0 0 0,-1 2 0 0 0,-1 3 0 0 0,-2 5 0 0 0,-4 6 0 0 0,-3 7 0 0 0,-1 4 0 0 0,-2 2 0 0 0,3 1 0 0 0,3 1 0 0 0,3-4 0 0 0,2-2 0 0 0,2 1 0 0 0,0 1 0 0 0,3 0 0 0 0,0 1 0 0 0,0 0 0 0 0,-1 1 0 0 0,0-1 0 0 0,-1-5 0 0 0,-1 2 0 0 0,1-3 0 0 0,0-5 0 0 0,-1-3 0 0 0,-1 0 0 0 0,-5 4 0 0 0,-5 1 0 0 0,-3-2 0 0 0,-5 2 0 0 0,-2-1 0 0 0,-2-3 0 0 0,-1-3 0 0 0,-1-2 0 0 0,0-2 0 0 0,1-3 0 0 0,2-7 0 0 0,0-2 0 0 0,-1-1 0 0 0,-3 0 0 0 0,-4 1 0 0 0,-2 0 0 0 0,-3 1 0 0 0,-2 0 0 0 0,-1-1 0 0 0,-1-5 0 0 0,1-6 0 0 0,2-5 0 0 0,2-3 0 0 0,-1-2 0 0 0,-3-1 0 0 0,-5 2 0 0 0,-3-2 0 0 0,-4 0 0 0 0,-6-2 0 0 0,-1-2 0 0 0,0-2 0 0 0,1-1 0 0 0,4-2 0 0 0,5-2 0 0 0,1-1 0 0 0,-3 1 0 0 0,1-1 0 0 0,-3 1 0 0 0,-4 1 0 0 0,-11 2 0 0 0,-12 3 0 0 0,-2-2 0 0 0,-2-1 0 0 0,0 0 0 0 0,4-1 0 0 0,5 0 0 0 0,9-1 0 0 0,7 0 0 0 0,5 1 0 0 0,1 0 0 0 0,1 1 0 0 0,-1 1 0 0 0,-1 1 0 0 0,-1-1 0 0 0,1 0 0 0 0,0 0 0 0 0,1-1 0 0 0,3-3 0 0 0,3 0 0 0 0,-2 0 0 0 0,-1-1 0 0 0,-2-2 0 0 0,0-1 0 0 0,-3-3 0 0 0,0-1 0 0 0,0 0 0 0 0,-1-1 0 0 0,-1-1 0 0 0,-1 0 0 0 0,3-1 0 0 0,2 0 0 0 0,1-1 0 0 0,-1-1 0 0 0,-1 0 0 0 0,-2 0 0 0 0,-9 0 0 0 0,-16 0 0 0 0,-6 0 0 0 0,0 1 0 0 0,-2-1 0 0 0,1 0 0 0 0,5-1 0 0 0,6-1 0 0 0,5 1 0 0 0,0 0 0 0 0,-1 0 0 0 0,-1 0 0 0 0,3 1 0 0 0,2-1 0 0 0,-30 2 0 0 0,-9 0 0 0 0,-4 0 0 0 0,2-1 0 0 0,9-1 0 0 0,7 0 0 0 0,5-1 0 0 0,3 1 0 0 0,4-2 0 0 0,5 1 0 0 0,5 1 0 0 0,6-1 0 0 0,9-1 0 0 0,1-1 0 0 0,-3-1 0 0 0,2 0 0 0 0,6-1 0 0 0,2-1 0 0 0,-2-2 0 0 0,-1 0 0 0 0,-3-3 0 0 0,-3-1 0 0 0,-1 0 0 0 0,-2-3 0 0 0,-3-3 0 0 0,-3-4 0 0 0,0-2 0 0 0,6-1 0 0 0,7 1 0 0 0,2 2 0 0 0,3 1 0 0 0,-1 2 0 0 0,-3 0 0 0 0,-9 0 0 0 0,-7-1 0 0 0,-6 1 0 0 0,-7-1 0 0 0,-9-2 0 0 0,0 1 0 0 0,6 1 0 0 0,-2 0 0 0 0,-9-3 0 0 0,-7 0 0 0 0,-4-2 0 0 0,-3-4 0 0 0,-1-3 0 0 0,-3-5 0 0 0,-4-7 0 0 0,-4-7 0 0 0,-4-3 0 0 0,-12-6 0 0 0,-14-4 0 0 0,8 4 0 0 0,14 7 0 0 0,12 3 0 0 0,11 5 0 0 0,5 0 0 0 0,7 0 0 0 0,8 0 0 0 0,9 0 0 0 0,9 0 0 0 0,9-1 0 0 0,8-2 0 0 0,7-2 0 0 0,7 0 0 0 0,5 1 0 0 0,5-2 0 0 0,1-3 0 0 0,1-4 0 0 0,2-2 0 0 0,3-4 0 0 0,1-4 0 0 0,0-4 0 0 0,-3-2 0 0 0,-2 1 0 0 0,1-8 0 0 0,5-6 0 0 0,6 1 0 0 0,7-3 0 0 0,5-5 0 0 0,6-6 0 0 0,7-10 0 0 0,8-8 0 0 0,8-8 0 0 0,7-4 0 0 0,4-5 0 0 0,3 0 0 0 0,1 2 0 0 0,-1 9 0 0 0,-1 9 0 0 0,-3 8 0 0 0,-1 7 0 0 0,-1 2 0 0 0,-2 1 0 0 0,-2 1 0 0 0,-1 1 0 0 0,-3-1 0 0 0,-3 2 0 0 0,-4 2 0 0 0,-3 1 0 0 0,-3 3 0 0 0,-3 4 0 0 0,-2 7 0 0 0,-3 0 0 0 0,-1 1 0 0 0,-1-1 0 0 0,-1-3 0 0 0,0 0 0 0 0,1-1 0 0 0,-1 3 0 0 0,1 3 0 0 0,0 5 0 0 0,0 8 0 0 0,0 5 0 0 0,0 3 0 0 0,0 0 0 0 0,0-2 0 0 0,0-1 0 0 0,0-4 0 0 0,-1-3 0 0 0,-2-2 0 0 0,-3 0 0 0 0,-3 0 0 0 0,0 0 0 0 0,0 0 0 0 0,0 2 0 0 0,2 2 0 0 0,-1 2 0 0 0,0-1 0 0 0,2-3 0 0 0,1-1 0 0 0,2-5 0 0 0,0-2 0 0 0,-1 1 0 0 0,1 0 0 0 0,0 2 0 0 0,2 2 0 0 0,0 2 0 0 0,0 4 0 0 0,0 0 0 0 0,-1 0 0 0 0,-1 1 0 0 0,1 1 0 0 0,0 1 0 0 0,1 0 0 0 0,1 1 0 0 0,0 1 0 0 0,-1 2 0 0 0,2 0 0 0 0,-1 4 0 0 0,0 5 0 0 0,0 3 0 0 0,0 1 0 0 0,0 1 0 0 0,0 1 0 0 0,0 2 0 0 0,1 1 0 0 0,1 4 0 0 0,0 3 0 0 0,3 3 0 0 0,0 5 0 0 0,0 2 0 0 0,-2 5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59:30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24170 8017 16383 0 0,'-1'0'0'0'0,"-2"-1"0"0"0,-4-2 0 0 0,-5-2 0 0 0,-6-5 0 0 0,-5-1 0 0 0,-2 0 0 0 0,-1-1 0 0 0,0 1 0 0 0,-3 0 0 0 0,-4-2 0 0 0,-5 0 0 0 0,-4-1 0 0 0,-1 2 0 0 0,-3-2 0 0 0,0 1 0 0 0,0 0 0 0 0,2 0 0 0 0,6 2 0 0 0,6 2 0 0 0,5 2 0 0 0,5 1 0 0 0,2 0 0 0 0,3 1 0 0 0,3-1 0 0 0,2 0 0 0 0,1 0 0 0 0,-2-2 0 0 0,-1-2 0 0 0,-2-1 0 0 0,-1-1 0 0 0,-1 0 0 0 0,0-1 0 0 0,-2-1 0 0 0,-1 0 0 0 0,-2 1 0 0 0,-2 0 0 0 0,1 0 0 0 0,2 2 0 0 0,0 1 0 0 0,1 1 0 0 0,-2 1 0 0 0,1 1 0 0 0,0 0 0 0 0,1 2 0 0 0,-1 0 0 0 0,-2-1 0 0 0,-3 0 0 0 0,-1 0 0 0 0,0-1 0 0 0,-2 2 0 0 0,0 1 0 0 0,0 1 0 0 0,0-1 0 0 0,-1 1 0 0 0,-3 1 0 0 0,0 0 0 0 0,0 1 0 0 0,-2 1 0 0 0,-5 0 0 0 0,-2 0 0 0 0,-1 0 0 0 0,-2 0 0 0 0,1 1 0 0 0,-1-1 0 0 0,3 0 0 0 0,0 0 0 0 0,3 0 0 0 0,4-1 0 0 0,1-1 0 0 0,-1-2 0 0 0,-2-2 0 0 0,-4 0 0 0 0,-6 0 0 0 0,-6-2 0 0 0,-9-1 0 0 0,-10-3 0 0 0,-6 0 0 0 0,-1-1 0 0 0,2 0 0 0 0,2 0 0 0 0,1 1 0 0 0,1 2 0 0 0,-2-1 0 0 0,0 1 0 0 0,2-1 0 0 0,3 2 0 0 0,1 0 0 0 0,4 2 0 0 0,2 1 0 0 0,5 0 0 0 0,8 2 0 0 0,5 1 0 0 0,2 1 0 0 0,1 1 0 0 0,2 1 0 0 0,4 0 0 0 0,1 0 0 0 0,3 0 0 0 0,2 1 0 0 0,5 1 0 0 0,4 1 0 0 0,6-1 0 0 0,3 1 0 0 0,3 0 0 0 0,1 0 0 0 0,2 0 0 0 0,0 0 0 0 0,-1 2 0 0 0,0 0 0 0 0,0 2 0 0 0,-1 1 0 0 0,-1 1 0 0 0,0 2 0 0 0,0 3 0 0 0,0 0 0 0 0,0 0 0 0 0,-3 4 0 0 0,-1 4 0 0 0,-3 3 0 0 0,-1 2 0 0 0,-1 6 0 0 0,1 3 0 0 0,1 1 0 0 0,3 0 0 0 0,4-1 0 0 0,3 0 0 0 0,3 0 0 0 0,2-3 0 0 0,2-3 0 0 0,0-2 0 0 0,1 1 0 0 0,-1-1 0 0 0,1 0 0 0 0,0 2 0 0 0,3 1 0 0 0,1 1 0 0 0,3 2 0 0 0,1 2 0 0 0,1 0 0 0 0,0-2 0 0 0,1-2 0 0 0,-1-1 0 0 0,0-1 0 0 0,2 1 0 0 0,0 2 0 0 0,2 2 0 0 0,2 1 0 0 0,3 2 0 0 0,2 0 0 0 0,4 2 0 0 0,1 1 0 0 0,1-3 0 0 0,-1-4 0 0 0,0-4 0 0 0,-1-3 0 0 0,1-3 0 0 0,-1-1 0 0 0,0-3 0 0 0,1-1 0 0 0,3-1 0 0 0,2-1 0 0 0,5-2 0 0 0,3-3 0 0 0,6-2 0 0 0,7-2 0 0 0,5-2 0 0 0,8-2 0 0 0,6-2 0 0 0,5-2 0 0 0,3 0 0 0 0,7-1 0 0 0,7-4 0 0 0,3-2 0 0 0,1-4 0 0 0,2-1 0 0 0,-4-2 0 0 0,-4-1 0 0 0,-1-2 0 0 0,0-1 0 0 0,-1 1 0 0 0,1 0 0 0 0,1-1 0 0 0,-3 0 0 0 0,-3 2 0 0 0,-6 2 0 0 0,-5 2 0 0 0,-7 2 0 0 0,-7 1 0 0 0,-9 2 0 0 0,-5-1 0 0 0,0 0 0 0 0,0 0 0 0 0,2 0 0 0 0,4-2 0 0 0,0 1 0 0 0,1 0 0 0 0,-1 0 0 0 0,0-1 0 0 0,-2 0 0 0 0,-3 2 0 0 0,0 0 0 0 0,1 0 0 0 0,2-2 0 0 0,3-1 0 0 0,4-2 0 0 0,2-2 0 0 0,2-1 0 0 0,-1 1 0 0 0,-2 1 0 0 0,-6 1 0 0 0,-6 3 0 0 0,-8 1 0 0 0,-7 1 0 0 0,-9 2 0 0 0,-5 2 0 0 0,-4 2 0 0 0,-2 1 0 0 0,-3-1 0 0 0,-1-1 0 0 0,-2-2 0 0 0,-1-3 0 0 0,-2-2 0 0 0,-2-2 0 0 0,1-4 0 0 0,-1-2 0 0 0,0 1 0 0 0,1 1 0 0 0,1 3 0 0 0,1 2 0 0 0,0 1 0 0 0,0 1 0 0 0,-2 1 0 0 0,1 0 0 0 0,-2 1 0 0 0,1-1 0 0 0,-1 1 0 0 0,-1-2 0 0 0,1 0 0 0 0,0-1 0 0 0,0-1 0 0 0,0 2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59:30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11389 2697 16383 0 0,'1'0'0'0'0,"4"0"0"0"0,12-1 0 0 0,14-1 0 0 0,13-2 0 0 0,10-1 0 0 0,9 0 0 0 0,4-1 0 0 0,0 1 0 0 0,-4 1 0 0 0,-5 1 0 0 0,-6 1 0 0 0,-5 1 0 0 0,-3 0 0 0 0,-3 1 0 0 0,1 0 0 0 0,-1 0 0 0 0,-1 0 0 0 0,-1 1 0 0 0,-1-1 0 0 0,-2 0 0 0 0,0 0 0 0 0,2 0 0 0 0,2 1 0 0 0,3 1 0 0 0,1 0 0 0 0,1 1 0 0 0,0 1 0 0 0,1 0 0 0 0,0 0 0 0 0,-2 0 0 0 0,-3-1 0 0 0,-5 1 0 0 0,-4-1 0 0 0,-3 1 0 0 0,-2-1 0 0 0,-2 0 0 0 0,-3 0 0 0 0,-3 0 0 0 0,-1-1 0 0 0,-2-1 0 0 0,0-1 0 0 0,1 0 0 0 0,3 1 0 0 0,0 1 0 0 0,2 0 0 0 0,0 0 0 0 0,2-1 0 0 0,0 1 0 0 0,2 0 0 0 0,0 0 0 0 0,-1 0 0 0 0,-2 0 0 0 0,1-1 0 0 0,-1 1 0 0 0,0 0 0 0 0,2 0 0 0 0,2 0 0 0 0,3-1 0 0 0,6 0 0 0 0,6-1 0 0 0,6 1 0 0 0,6 0 0 0 0,6 1 0 0 0,1 1 0 0 0,0-1 0 0 0,-1 0 0 0 0,-5-1 0 0 0,-5 0 0 0 0,-3-1 0 0 0,-1 0 0 0 0,1 0 0 0 0,1 0 0 0 0,1 0 0 0 0,3 0 0 0 0,2 0 0 0 0,3 0 0 0 0,1 0 0 0 0,2 0 0 0 0,1 0 0 0 0,-1 0 0 0 0,-3 0 0 0 0,-4 0 0 0 0,-1-1 0 0 0,0-2 0 0 0,-3 1 0 0 0,-1-2 0 0 0,-1 1 0 0 0,-3-2 0 0 0,-3 0 0 0 0,1-1 0 0 0,-2 1 0 0 0,-1-1 0 0 0,1 0 0 0 0,0 0 0 0 0,3-1 0 0 0,5 0 0 0 0,2 0 0 0 0,2-1 0 0 0,0 0 0 0 0,-2 2 0 0 0,-3 0 0 0 0,-4 0 0 0 0,-5 1 0 0 0,-3 0 0 0 0,-5-1 0 0 0,-1 1 0 0 0,-3 1 0 0 0,-1-2 0 0 0,4 0 0 0 0,1-2 0 0 0,2 1 0 0 0,1-1 0 0 0,2-1 0 0 0,3-1 0 0 0,0 0 0 0 0,-1 2 0 0 0,-3-1 0 0 0,-4 2 0 0 0,-2 0 0 0 0,-2 1 0 0 0,-1 0 0 0 0,2 0 0 0 0,0 1 0 0 0,1-1 0 0 0,1 1 0 0 0,0-1 0 0 0,-2 2 0 0 0,-1 0 0 0 0,-4 0 0 0 0,-5 0 0 0 0,-2 2 0 0 0,-4 0 0 0 0,-1 2 0 0 0,-1-1 0 0 0,-1 1 0 0 0,0 1 0 0 0,-2 1 0 0 0,-1 3 0 0 0,0 4 0 0 0,0 3 0 0 0,1 3 0 0 0,-1 3 0 0 0,0 2 0 0 0,0 0 0 0 0,-2 0 0 0 0,-1 0 0 0 0,-1 3 0 0 0,-1 0 0 0 0,0 2 0 0 0,0 3 0 0 0,0 1 0 0 0,0 2 0 0 0,0 0 0 0 0,2 2 0 0 0,1 1 0 0 0,-1 1 0 0 0,-1-1 0 0 0,1-1 0 0 0,0 1 0 0 0,2-1 0 0 0,0 2 0 0 0,1 0 0 0 0,0-2 0 0 0,1-1 0 0 0,0-1 0 0 0,1-3 0 0 0,2 0 0 0 0,-1-2 0 0 0,0-2 0 0 0,-2-2 0 0 0,0-2 0 0 0,-1-1 0 0 0,-1 0 0 0 0,0 0 0 0 0,-2-1 0 0 0,-1-2 0 0 0,-1 0 0 0 0,1-1 0 0 0,-2-1 0 0 0,1-3 0 0 0,0 0 0 0 0,-1 1 0 0 0,-2 0 0 0 0,-4 0 0 0 0,-5 0 0 0 0,-6 0 0 0 0,-5 0 0 0 0,-5 0 0 0 0,-5 1 0 0 0,-2 0 0 0 0,0-1 0 0 0,-2 0 0 0 0,-3-1 0 0 0,-4 1 0 0 0,-3-1 0 0 0,-3 1 0 0 0,-2-1 0 0 0,-9 0 0 0 0,-12-1 0 0 0,-8 0 0 0 0,-3-1 0 0 0,5-1 0 0 0,5-2 0 0 0,4 1 0 0 0,3 0 0 0 0,1 0 0 0 0,1-2 0 0 0,1 1 0 0 0,2-2 0 0 0,1 0 0 0 0,1-1 0 0 0,1 1 0 0 0,-3-1 0 0 0,0 0 0 0 0,2-1 0 0 0,-2-1 0 0 0,-3-1 0 0 0,-3 0 0 0 0,1 0 0 0 0,0 0 0 0 0,-1-1 0 0 0,2-2 0 0 0,0-3 0 0 0,2 1 0 0 0,2-1 0 0 0,0 0 0 0 0,2 0 0 0 0,-1 0 0 0 0,-3-2 0 0 0,-7 1 0 0 0,-8-2 0 0 0,-5 0 0 0 0,-1 0 0 0 0,-2 0 0 0 0,0 2 0 0 0,2 0 0 0 0,5 0 0 0 0,8 0 0 0 0,9 1 0 0 0,7 1 0 0 0,6 1 0 0 0,5 0 0 0 0,2 1 0 0 0,1-1 0 0 0,-1 1 0 0 0,-2-1 0 0 0,-4 1 0 0 0,-4-2 0 0 0,-6-2 0 0 0,-6 2 0 0 0,-5-1 0 0 0,-1 1 0 0 0,0-3 0 0 0,-2-1 0 0 0,-2-1 0 0 0,-1-1 0 0 0,-1-2 0 0 0,2-2 0 0 0,1 1 0 0 0,4-1 0 0 0,6 1 0 0 0,8 1 0 0 0,7 2 0 0 0,5-1 0 0 0,3 1 0 0 0,2-2 0 0 0,3 0 0 0 0,3 0 0 0 0,3 0 0 0 0,2-1 0 0 0,1-1 0 0 0,2 0 0 0 0,2 0 0 0 0,1 0 0 0 0,3 1 0 0 0,1 0 0 0 0,1 1 0 0 0,-1 0 0 0 0,0-1 0 0 0,-2-1 0 0 0,-1-3 0 0 0,-1 0 0 0 0,-1-2 0 0 0,1 0 0 0 0,2 1 0 0 0,-1 0 0 0 0,2 2 0 0 0,2 1 0 0 0,2 1 0 0 0,1 2 0 0 0,0-1 0 0 0,1 0 0 0 0,1 0 0 0 0,1 0 0 0 0,1 1 0 0 0,3 1 0 0 0,1-2 0 0 0,3 0 0 0 0,2 0 0 0 0,0 2 0 0 0,2 0 0 0 0,-1-1 0 0 0,0 0 0 0 0,1-1 0 0 0,-1 0 0 0 0,0-2 0 0 0,1 1 0 0 0,0-1 0 0 0,5 0 0 0 0,3 0 0 0 0,2 2 0 0 0,3-1 0 0 0,3 0 0 0 0,2 0 0 0 0,3-1 0 0 0,0 0 0 0 0,-1 2 0 0 0,-1 0 0 0 0,-2 3 0 0 0,-3 3 0 0 0,-2 2 0 0 0,-2 1 0 0 0,-1 2 0 0 0,-3 0 0 0 0,-1 1 0 0 0,1-1 0 0 0,0 1 0 0 0,2-1 0 0 0,-2 0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59:30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7957 4263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59:30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6863 3822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59:30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6863 3822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5T21:59:30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6863 3822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8.png"/><Relationship Id="rId7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2.png"/><Relationship Id="rId4" Type="http://schemas.openxmlformats.org/officeDocument/2006/relationships/customXml" Target="../ink/ink1.xml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58.png"/><Relationship Id="rId3" Type="http://schemas.openxmlformats.org/officeDocument/2006/relationships/image" Target="../media/image540.png"/><Relationship Id="rId7" Type="http://schemas.openxmlformats.org/officeDocument/2006/relationships/customXml" Target="../ink/ink7.xml"/><Relationship Id="rId12" Type="http://schemas.openxmlformats.org/officeDocument/2006/relationships/image" Target="../media/image5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6.png"/><Relationship Id="rId5" Type="http://schemas.openxmlformats.org/officeDocument/2006/relationships/customXml" Target="../ink/ink6.xml"/><Relationship Id="rId10" Type="http://schemas.openxmlformats.org/officeDocument/2006/relationships/customXml" Target="../ink/ink10.xml"/><Relationship Id="rId4" Type="http://schemas.openxmlformats.org/officeDocument/2006/relationships/customXml" Target="../ink/ink5.xml"/><Relationship Id="rId9" Type="http://schemas.openxmlformats.org/officeDocument/2006/relationships/customXml" Target="../ink/ink9.xml"/><Relationship Id="rId1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customXml" Target="../ink/ink12.xml"/><Relationship Id="rId10" Type="http://schemas.openxmlformats.org/officeDocument/2006/relationships/image" Target="../media/image66.png"/><Relationship Id="rId4" Type="http://schemas.openxmlformats.org/officeDocument/2006/relationships/image" Target="../media/image63.png"/><Relationship Id="rId9" Type="http://schemas.openxmlformats.org/officeDocument/2006/relationships/customXml" Target="../ink/ink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68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customXml" Target="../ink/ink17.xml"/><Relationship Id="rId4" Type="http://schemas.openxmlformats.org/officeDocument/2006/relationships/customXml" Target="../ink/ink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wsaf49/coco-2017-datas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>
                <a:cs typeface="Calibri Light"/>
              </a:rPr>
              <a:t>CAP6411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8/26/2025</a:t>
            </a:r>
          </a:p>
        </p:txBody>
      </p:sp>
      <p:pic>
        <p:nvPicPr>
          <p:cNvPr id="5" name="Picture 4" descr="3D numbers in white and orange">
            <a:extLst>
              <a:ext uri="{FF2B5EF4-FFF2-40B4-BE49-F238E27FC236}">
                <a16:creationId xmlns:a16="http://schemas.microsoft.com/office/drawing/2014/main" id="{82CF18EB-908D-629E-975F-5BF267DA87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04" r="20775" b="-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0425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9C3A-6590-4798-D203-816024C0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Object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D732A-0BB6-38AC-FF17-A4C11932E9D7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Goal: given an image, put bounding boxes (tight) around objects in the image, and predict what type of object it is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Multiple approaches have been proposed in the past but the most popular class is the Region-CNN (R-CNN)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Two steps in R-CNN: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Propose potential bounding boxes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Throw or keep the true positives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Classify the class of the object in each box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4" name="Content Placeholder 3" descr="A collage of images of different objects&#10;&#10;Description automatically generated">
            <a:extLst>
              <a:ext uri="{FF2B5EF4-FFF2-40B4-BE49-F238E27FC236}">
                <a16:creationId xmlns:a16="http://schemas.microsoft.com/office/drawing/2014/main" id="{B27C80E4-79A9-2A41-FC84-F5F383D3F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368" r="-1" b="2282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6482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1974-E6A4-167B-389F-D98895F6D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Three Main Evolutions of R-CNN</a:t>
            </a:r>
            <a:endParaRPr lang="en-US" sz="5400"/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E252BD9B-E93F-1BB2-64E0-FA5F4D7281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25" r="30409" b="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6EA62-EAFD-F3FC-4F56-19D76E614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 dirty="0">
                <a:cs typeface="Calibri"/>
              </a:rPr>
              <a:t>R-CNN</a:t>
            </a:r>
          </a:p>
          <a:p>
            <a:pPr lvl="1"/>
            <a:r>
              <a:rPr lang="en-US" sz="1200" dirty="0">
                <a:cs typeface="Calibri"/>
              </a:rPr>
              <a:t>Lay down a lot of </a:t>
            </a:r>
            <a:r>
              <a:rPr lang="en-US" sz="1200" dirty="0" err="1">
                <a:cs typeface="Calibri"/>
              </a:rPr>
              <a:t>bbox</a:t>
            </a:r>
            <a:endParaRPr lang="en-US" sz="1200" dirty="0" err="1">
              <a:ea typeface="Calibri"/>
              <a:cs typeface="Calibri"/>
            </a:endParaRPr>
          </a:p>
          <a:p>
            <a:pPr lvl="1"/>
            <a:r>
              <a:rPr lang="en-US" sz="1200" dirty="0">
                <a:cs typeface="Calibri"/>
              </a:rPr>
              <a:t>"Cut out each box as an image"</a:t>
            </a:r>
            <a:endParaRPr lang="en-US" sz="1200" dirty="0">
              <a:ea typeface="Calibri"/>
              <a:cs typeface="Calibri"/>
            </a:endParaRPr>
          </a:p>
          <a:p>
            <a:pPr lvl="1"/>
            <a:r>
              <a:rPr lang="en-US" sz="1200" dirty="0">
                <a:cs typeface="Calibri"/>
              </a:rPr>
              <a:t>Warp the resulting image to fit the input dimensions</a:t>
            </a:r>
            <a:endParaRPr lang="en-US" sz="1200" dirty="0">
              <a:ea typeface="Calibri"/>
              <a:cs typeface="Calibri"/>
            </a:endParaRPr>
          </a:p>
          <a:p>
            <a:pPr lvl="1"/>
            <a:r>
              <a:rPr lang="en-US" sz="1200" dirty="0">
                <a:cs typeface="Calibri"/>
              </a:rPr>
              <a:t>Run SVM classification on each box</a:t>
            </a:r>
            <a:endParaRPr lang="en-US" sz="1200" dirty="0">
              <a:ea typeface="Calibri"/>
              <a:cs typeface="Calibri"/>
            </a:endParaRPr>
          </a:p>
          <a:p>
            <a:r>
              <a:rPr lang="en-US" sz="1200" dirty="0">
                <a:cs typeface="Calibri"/>
              </a:rPr>
              <a:t>Fast R-CNN</a:t>
            </a:r>
            <a:endParaRPr lang="en-US" sz="1200" dirty="0">
              <a:ea typeface="Calibri"/>
              <a:cs typeface="Calibri"/>
            </a:endParaRPr>
          </a:p>
          <a:p>
            <a:pPr lvl="1"/>
            <a:r>
              <a:rPr lang="en-US" sz="1200" u="sng" dirty="0">
                <a:cs typeface="Calibri"/>
              </a:rPr>
              <a:t>Given an image and a set of </a:t>
            </a:r>
            <a:r>
              <a:rPr lang="en-US" sz="1200" u="sng" dirty="0" err="1">
                <a:cs typeface="Calibri"/>
              </a:rPr>
              <a:t>bboxes</a:t>
            </a:r>
            <a:endParaRPr lang="en-US" sz="1200" u="sng" dirty="0" err="1">
              <a:ea typeface="Calibri"/>
              <a:cs typeface="Calibri"/>
            </a:endParaRPr>
          </a:p>
          <a:p>
            <a:pPr lvl="1"/>
            <a:r>
              <a:rPr lang="en-US" sz="1200" dirty="0">
                <a:cs typeface="Calibri"/>
              </a:rPr>
              <a:t>Share the convolutional map between boxes</a:t>
            </a:r>
            <a:endParaRPr lang="en-US" sz="1200" dirty="0"/>
          </a:p>
          <a:p>
            <a:pPr lvl="1"/>
            <a:r>
              <a:rPr lang="en-US" sz="1200" dirty="0">
                <a:cs typeface="Calibri"/>
              </a:rPr>
              <a:t>Predict both </a:t>
            </a:r>
            <a:r>
              <a:rPr lang="en-US" sz="1200" dirty="0" err="1">
                <a:cs typeface="Calibri"/>
              </a:rPr>
              <a:t>bbox</a:t>
            </a:r>
            <a:r>
              <a:rPr lang="en-US" sz="1200" dirty="0">
                <a:cs typeface="Calibri"/>
              </a:rPr>
              <a:t> regression and </a:t>
            </a:r>
            <a:r>
              <a:rPr lang="en-US" sz="1200" dirty="0" err="1">
                <a:cs typeface="Calibri"/>
              </a:rPr>
              <a:t>cls</a:t>
            </a:r>
            <a:endParaRPr lang="en-US" sz="1200" dirty="0" err="1">
              <a:ea typeface="Calibri"/>
              <a:cs typeface="Calibri"/>
            </a:endParaRPr>
          </a:p>
          <a:p>
            <a:pPr lvl="1"/>
            <a:r>
              <a:rPr lang="en-US" sz="1200" dirty="0">
                <a:cs typeface="Calibri"/>
              </a:rPr>
              <a:t>Above two steps done in unified training - such unification speeds things up a lot</a:t>
            </a:r>
            <a:endParaRPr lang="en-US" sz="1200" dirty="0">
              <a:ea typeface="Calibri"/>
              <a:cs typeface="Calibri"/>
            </a:endParaRPr>
          </a:p>
          <a:p>
            <a:r>
              <a:rPr lang="en-US" sz="1200" dirty="0">
                <a:cs typeface="Calibri"/>
              </a:rPr>
              <a:t>Faster R-CNN</a:t>
            </a:r>
            <a:endParaRPr lang="en-US" sz="1200" dirty="0">
              <a:ea typeface="Calibri"/>
              <a:cs typeface="Calibri"/>
            </a:endParaRPr>
          </a:p>
          <a:p>
            <a:pPr lvl="1"/>
            <a:r>
              <a:rPr lang="en-US" sz="1200" dirty="0">
                <a:cs typeface="Calibri"/>
              </a:rPr>
              <a:t>Do away with input includes a set of </a:t>
            </a:r>
            <a:r>
              <a:rPr lang="en-US" sz="1200" dirty="0" err="1">
                <a:cs typeface="Calibri"/>
              </a:rPr>
              <a:t>bboxes</a:t>
            </a:r>
            <a:endParaRPr lang="en-US" sz="1200" dirty="0" err="1">
              <a:ea typeface="Calibri"/>
              <a:cs typeface="Calibri"/>
            </a:endParaRPr>
          </a:p>
          <a:p>
            <a:pPr lvl="1"/>
            <a:r>
              <a:rPr lang="en-US" sz="1200" dirty="0">
                <a:cs typeface="Calibri"/>
              </a:rPr>
              <a:t>Integrated Region Proposal Network that produces </a:t>
            </a:r>
            <a:r>
              <a:rPr lang="en-US" sz="1200" dirty="0" err="1">
                <a:cs typeface="Calibri"/>
              </a:rPr>
              <a:t>bboxes</a:t>
            </a:r>
            <a:r>
              <a:rPr lang="en-US" sz="1200" dirty="0">
                <a:cs typeface="Calibri"/>
              </a:rPr>
              <a:t> together with Fast R-CNN</a:t>
            </a:r>
            <a:endParaRPr lang="en-US" sz="1200" dirty="0">
              <a:ea typeface="Calibri"/>
              <a:cs typeface="Calibri"/>
            </a:endParaRPr>
          </a:p>
          <a:p>
            <a:pPr lvl="1"/>
            <a:r>
              <a:rPr lang="en-US" sz="1200" dirty="0">
                <a:cs typeface="Calibri"/>
              </a:rPr>
              <a:t>This eliminates the slowdown of computing a separate set of </a:t>
            </a:r>
            <a:r>
              <a:rPr lang="en-US" sz="1200" dirty="0" err="1">
                <a:cs typeface="Calibri"/>
              </a:rPr>
              <a:t>bboxes</a:t>
            </a:r>
            <a:endParaRPr lang="en-US" sz="1200" dirty="0" err="1">
              <a:ea typeface="Calibri"/>
              <a:cs typeface="Calibri"/>
            </a:endParaRPr>
          </a:p>
          <a:p>
            <a:pPr lvl="1"/>
            <a:endParaRPr lang="en-US" sz="1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848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C4D2-A384-5B0E-1DF5-5B17EC70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R-CNN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5AB6A-663E-F602-FABE-16730FAA62BE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Quite simple approach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 selective search to lay down boxes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Greedy merging of </a:t>
            </a:r>
            <a:r>
              <a:rPr lang="en-US" sz="1400" dirty="0" err="1"/>
              <a:t>superpixels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Each region: extract fixed-length feature vector (4096)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Run SVM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Non-maximum suppression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SVMs per class!!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Some consideration: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Why not a sliding window?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Too coarse grained as the receptive fields in the later layers are fairly large and strides size is large as well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R-CNN generate ~2k regions</a:t>
            </a:r>
          </a:p>
        </p:txBody>
      </p:sp>
      <p:pic>
        <p:nvPicPr>
          <p:cNvPr id="4" name="Content Placeholder 3" descr="A diagram of a person&#10;&#10;Description automatically generated">
            <a:extLst>
              <a:ext uri="{FF2B5EF4-FFF2-40B4-BE49-F238E27FC236}">
                <a16:creationId xmlns:a16="http://schemas.microsoft.com/office/drawing/2014/main" id="{C7CEA5C3-36BE-6FC0-C74C-DF51E8C7E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532" y="3440079"/>
            <a:ext cx="5150277" cy="180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6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24B8-D105-2AFF-4CF1-F09A12B5E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>
                <a:cs typeface="Calibri Light"/>
              </a:rPr>
              <a:t>Two Stage R-CNN Training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03BBF-7B62-F53D-30A5-D79D75BD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r>
              <a:rPr lang="en-US" sz="2400" dirty="0">
                <a:cs typeface="Calibri"/>
              </a:rPr>
              <a:t>Stage 1 – Train CNN:</a:t>
            </a:r>
          </a:p>
          <a:p>
            <a:pPr lvl="1"/>
            <a:r>
              <a:rPr lang="en-US" sz="2000" dirty="0">
                <a:cs typeface="Calibri"/>
              </a:rPr>
              <a:t>5 conv layers and 2 FC layers</a:t>
            </a:r>
          </a:p>
          <a:p>
            <a:pPr lvl="1"/>
            <a:r>
              <a:rPr lang="en-US" sz="2000" dirty="0">
                <a:cs typeface="Calibri"/>
              </a:rPr>
              <a:t>Mean subtracted input image 227x227</a:t>
            </a:r>
          </a:p>
          <a:p>
            <a:pPr lvl="1"/>
            <a:r>
              <a:rPr lang="en-US" sz="2000" dirty="0">
                <a:cs typeface="Calibri"/>
              </a:rPr>
              <a:t>Image level training on ILSVRC2012</a:t>
            </a:r>
          </a:p>
          <a:p>
            <a:r>
              <a:rPr lang="en-US" sz="2400" dirty="0">
                <a:cs typeface="Calibri"/>
              </a:rPr>
              <a:t>Stage 2 – Fine Tune for Object Detection:</a:t>
            </a:r>
          </a:p>
          <a:p>
            <a:pPr lvl="1"/>
            <a:r>
              <a:rPr lang="en-US" sz="2000" dirty="0">
                <a:cs typeface="Calibri"/>
              </a:rPr>
              <a:t>Take each </a:t>
            </a:r>
            <a:r>
              <a:rPr lang="en-US" sz="2000" err="1">
                <a:cs typeface="Calibri"/>
              </a:rPr>
              <a:t>bbox</a:t>
            </a:r>
            <a:r>
              <a:rPr lang="en-US" sz="2000" dirty="0">
                <a:cs typeface="Calibri"/>
              </a:rPr>
              <a:t>, cut it out and warp </a:t>
            </a:r>
            <a:r>
              <a:rPr lang="en-US" sz="2000">
                <a:cs typeface="Calibri"/>
              </a:rPr>
              <a:t>it to 227x227</a:t>
            </a:r>
          </a:p>
          <a:p>
            <a:pPr lvl="1"/>
            <a:r>
              <a:rPr lang="en-US" sz="2000" dirty="0">
                <a:cs typeface="Calibri"/>
              </a:rPr>
              <a:t>Add 1 background class to the classification layer</a:t>
            </a:r>
          </a:p>
          <a:p>
            <a:r>
              <a:rPr lang="en-US" sz="2400" dirty="0">
                <a:cs typeface="Calibri"/>
              </a:rPr>
              <a:t>Ground Truthing:</a:t>
            </a:r>
          </a:p>
          <a:p>
            <a:pPr lvl="1"/>
            <a:r>
              <a:rPr lang="en-US" sz="2000" dirty="0">
                <a:cs typeface="Calibri"/>
              </a:rPr>
              <a:t>Positive: IOU &gt;= 0.5 with ground truth </a:t>
            </a:r>
            <a:r>
              <a:rPr lang="en-US" sz="2000" err="1">
                <a:cs typeface="Calibri"/>
              </a:rPr>
              <a:t>bbox</a:t>
            </a:r>
            <a:endParaRPr lang="en-US" sz="2000">
              <a:cs typeface="Calibri"/>
            </a:endParaRPr>
          </a:p>
          <a:p>
            <a:r>
              <a:rPr lang="en-US" sz="2400" dirty="0">
                <a:cs typeface="Calibri"/>
              </a:rPr>
              <a:t>Hard negative mining</a:t>
            </a:r>
          </a:p>
        </p:txBody>
      </p:sp>
    </p:spTree>
    <p:extLst>
      <p:ext uri="{BB962C8B-B14F-4D97-AF65-F5344CB8AC3E}">
        <p14:creationId xmlns:p14="http://schemas.microsoft.com/office/powerpoint/2010/main" val="2291134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E0FE1-95C9-2298-83C1-B46183B2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  <a:cs typeface="Calibri Light"/>
              </a:rPr>
              <a:t>R-CNN BBox Regression</a:t>
            </a:r>
            <a:endParaRPr lang="en-US" sz="5400">
              <a:solidFill>
                <a:srgbClr val="FFFFFF"/>
              </a:solidFill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33DF1A5-E50C-9CA1-6161-436F2D515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99163"/>
            <a:ext cx="5358459" cy="380044"/>
          </a:xfrm>
          <a:prstGeom prst="rect">
            <a:avLst/>
          </a:prstGeom>
        </p:spPr>
      </p:pic>
      <p:pic>
        <p:nvPicPr>
          <p:cNvPr id="5" name="Picture 4" descr="A black and white image of letters&#10;&#10;Description automatically generated">
            <a:extLst>
              <a:ext uri="{FF2B5EF4-FFF2-40B4-BE49-F238E27FC236}">
                <a16:creationId xmlns:a16="http://schemas.microsoft.com/office/drawing/2014/main" id="{FC161319-492D-2225-399B-DA1EA3963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548" y="1069013"/>
            <a:ext cx="2743200" cy="3737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4BA4E4-6F61-5312-76B6-0F84D19BA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844" y="1534733"/>
            <a:ext cx="3166533" cy="2292756"/>
          </a:xfrm>
          <a:prstGeom prst="rect">
            <a:avLst/>
          </a:prstGeom>
        </p:spPr>
      </p:pic>
      <p:pic>
        <p:nvPicPr>
          <p:cNvPr id="7" name="Picture 6" descr="A black text with white text&#10;&#10;Description automatically generated">
            <a:extLst>
              <a:ext uri="{FF2B5EF4-FFF2-40B4-BE49-F238E27FC236}">
                <a16:creationId xmlns:a16="http://schemas.microsoft.com/office/drawing/2014/main" id="{84873D58-7E5C-5837-453F-D1DAD1D42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919" y="3887861"/>
            <a:ext cx="4841051" cy="2600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7C0287-049B-EA3B-14BB-E6FBCFBF11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474" y="4331045"/>
            <a:ext cx="2743200" cy="190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15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82CC-4472-6B36-2FE3-5C428C88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anchor="b">
            <a:normAutofit/>
          </a:bodyPr>
          <a:lstStyle/>
          <a:p>
            <a:r>
              <a:rPr lang="en-US" sz="4800">
                <a:cs typeface="Calibri Light"/>
              </a:rPr>
              <a:t>Fast R-CNN</a:t>
            </a:r>
            <a:endParaRPr lang="en-US" sz="4800"/>
          </a:p>
        </p:txBody>
      </p:sp>
      <p:pic>
        <p:nvPicPr>
          <p:cNvPr id="4" name="Content Placeholder 3" descr="A diagram of a map&#10;&#10;Description automatically generated">
            <a:extLst>
              <a:ext uri="{FF2B5EF4-FFF2-40B4-BE49-F238E27FC236}">
                <a16:creationId xmlns:a16="http://schemas.microsoft.com/office/drawing/2014/main" id="{6209B67E-BD15-D6AE-CB23-CE8B2FA1D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07" y="2269432"/>
            <a:ext cx="5468347" cy="2310376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585418-721F-1126-DEA7-DE1800C04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016" y="2965592"/>
            <a:ext cx="4589328" cy="29873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cs typeface="Calibri"/>
              </a:rPr>
              <a:t>The separate steps in R-CNN really make it slow …</a:t>
            </a:r>
          </a:p>
          <a:p>
            <a:pPr lvl="1"/>
            <a:r>
              <a:rPr lang="en-US" sz="1400" dirty="0">
                <a:cs typeface="Calibri"/>
              </a:rPr>
              <a:t>Each </a:t>
            </a:r>
            <a:r>
              <a:rPr lang="en-US" sz="1400" dirty="0" err="1">
                <a:cs typeface="Calibri"/>
              </a:rPr>
              <a:t>bbox</a:t>
            </a:r>
            <a:r>
              <a:rPr lang="en-US" sz="1400" dirty="0">
                <a:cs typeface="Calibri"/>
              </a:rPr>
              <a:t> results in a CNN forward pass, without sharing computation</a:t>
            </a:r>
          </a:p>
          <a:p>
            <a:r>
              <a:rPr lang="en-US" sz="1800" dirty="0">
                <a:cs typeface="Calibri"/>
              </a:rPr>
              <a:t>Fast R-CNN combines all into one training flow</a:t>
            </a:r>
          </a:p>
          <a:p>
            <a:r>
              <a:rPr lang="en-US" sz="1800" dirty="0">
                <a:cs typeface="Calibri"/>
              </a:rPr>
              <a:t>Assume input is the image and a set of </a:t>
            </a:r>
            <a:r>
              <a:rPr lang="en-US" sz="1800" dirty="0" err="1">
                <a:cs typeface="Calibri"/>
              </a:rPr>
              <a:t>bboxes</a:t>
            </a:r>
            <a:r>
              <a:rPr lang="en-US" sz="1800" dirty="0">
                <a:cs typeface="Calibri"/>
              </a:rPr>
              <a:t> is given</a:t>
            </a:r>
          </a:p>
        </p:txBody>
      </p:sp>
    </p:spTree>
    <p:extLst>
      <p:ext uri="{BB962C8B-B14F-4D97-AF65-F5344CB8AC3E}">
        <p14:creationId xmlns:p14="http://schemas.microsoft.com/office/powerpoint/2010/main" val="396604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A5BE-12D8-C691-2458-78D082E6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Combining Stages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C08D-13AE-99F0-BC9D-0CE8B06D4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cs typeface="Calibri"/>
              </a:rPr>
              <a:t>Run the conv layers/</a:t>
            </a:r>
            <a:r>
              <a:rPr lang="en-US" sz="2200" dirty="0" err="1">
                <a:cs typeface="Calibri"/>
              </a:rPr>
              <a:t>maxpool</a:t>
            </a:r>
            <a:r>
              <a:rPr lang="en-US" sz="2200" dirty="0">
                <a:cs typeface="Calibri"/>
              </a:rPr>
              <a:t> first</a:t>
            </a:r>
          </a:p>
          <a:p>
            <a:r>
              <a:rPr lang="en-US" sz="2200" dirty="0">
                <a:cs typeface="Calibri"/>
              </a:rPr>
              <a:t>For each </a:t>
            </a:r>
            <a:r>
              <a:rPr lang="en-US" sz="2200" dirty="0" err="1">
                <a:cs typeface="Calibri"/>
              </a:rPr>
              <a:t>bbox</a:t>
            </a:r>
            <a:r>
              <a:rPr lang="en-US" sz="2200" dirty="0">
                <a:cs typeface="Calibri"/>
              </a:rPr>
              <a:t>, run max pooling to get a fixed-length feature vector</a:t>
            </a:r>
          </a:p>
          <a:p>
            <a:r>
              <a:rPr lang="en-US" sz="2200" dirty="0">
                <a:cs typeface="Calibri"/>
              </a:rPr>
              <a:t>Predict (fc layers):</a:t>
            </a:r>
          </a:p>
          <a:p>
            <a:pPr lvl="1"/>
            <a:r>
              <a:rPr lang="en-US" sz="1800" dirty="0" err="1">
                <a:cs typeface="Calibri"/>
              </a:rPr>
              <a:t>Softmax</a:t>
            </a:r>
            <a:r>
              <a:rPr lang="en-US" sz="1800" dirty="0">
                <a:cs typeface="Calibri"/>
              </a:rPr>
              <a:t> prob on classes (has a background class)</a:t>
            </a:r>
          </a:p>
          <a:p>
            <a:pPr lvl="1"/>
            <a:r>
              <a:rPr lang="en-US" sz="1800" dirty="0" err="1">
                <a:cs typeface="Calibri"/>
              </a:rPr>
              <a:t>BBox</a:t>
            </a:r>
            <a:r>
              <a:rPr lang="en-US" sz="1800" dirty="0">
                <a:cs typeface="Calibri"/>
              </a:rPr>
              <a:t> regression</a:t>
            </a:r>
          </a:p>
        </p:txBody>
      </p:sp>
      <p:pic>
        <p:nvPicPr>
          <p:cNvPr id="5" name="Picture 4" descr="Large skydiving group mid-air">
            <a:extLst>
              <a:ext uri="{FF2B5EF4-FFF2-40B4-BE49-F238E27FC236}">
                <a16:creationId xmlns:a16="http://schemas.microsoft.com/office/drawing/2014/main" id="{B60A619F-FC26-2B4E-7138-D10A02F64F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8" r="15760" b="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4049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5C7A-892D-644A-6C97-5AA612F2C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1655483"/>
          </a:xfrm>
        </p:spPr>
        <p:txBody>
          <a:bodyPr anchor="b">
            <a:normAutofit/>
          </a:bodyPr>
          <a:lstStyle/>
          <a:p>
            <a:r>
              <a:rPr lang="en-US" sz="4000">
                <a:cs typeface="Calibri Light"/>
              </a:rPr>
              <a:t>RoI Pooling</a:t>
            </a:r>
            <a:endParaRPr lang="en-US" sz="4000"/>
          </a:p>
        </p:txBody>
      </p:sp>
      <p:pic>
        <p:nvPicPr>
          <p:cNvPr id="22" name="Picture 21" descr="Dark blue swimming pool">
            <a:extLst>
              <a:ext uri="{FF2B5EF4-FFF2-40B4-BE49-F238E27FC236}">
                <a16:creationId xmlns:a16="http://schemas.microsoft.com/office/drawing/2014/main" id="{7162E121-BCE7-2B62-1216-AEB86420DE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01" b="6"/>
          <a:stretch/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C728BD7-D191-9D16-B397-94E9BFC2A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193" y="2418408"/>
            <a:ext cx="2942813" cy="35402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h x w </a:t>
            </a:r>
            <a:r>
              <a:rPr lang="en-US" sz="2000" dirty="0" err="1">
                <a:cs typeface="Calibri"/>
              </a:rPr>
              <a:t>RoI</a:t>
            </a:r>
            <a:r>
              <a:rPr lang="en-US" sz="2000" dirty="0">
                <a:cs typeface="Calibri"/>
              </a:rPr>
              <a:t> window</a:t>
            </a:r>
          </a:p>
          <a:p>
            <a:r>
              <a:rPr lang="en-US" sz="2000" dirty="0">
                <a:cs typeface="Calibri"/>
              </a:rPr>
              <a:t>h/H x w/W - H x W grid</a:t>
            </a:r>
          </a:p>
          <a:p>
            <a:r>
              <a:rPr lang="en-US" sz="2000" dirty="0">
                <a:cs typeface="Calibri"/>
              </a:rPr>
              <a:t>Max pooling in each sub window</a:t>
            </a:r>
          </a:p>
        </p:txBody>
      </p:sp>
    </p:spTree>
    <p:extLst>
      <p:ext uri="{BB962C8B-B14F-4D97-AF65-F5344CB8AC3E}">
        <p14:creationId xmlns:p14="http://schemas.microsoft.com/office/powerpoint/2010/main" val="180624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56C7-B82C-F746-0610-3A169F643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cs typeface="Calibri Light"/>
              </a:rPr>
              <a:t>Pretrained Networks</a:t>
            </a:r>
            <a:endParaRPr lang="en-US" sz="5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8C33908-AD8A-0DF9-181E-33FB98CE9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>
                <a:cs typeface="Calibri"/>
              </a:rPr>
              <a:t>Pretrained ImageNet networks, 5 max pooling layers, 5-13 conv layers</a:t>
            </a:r>
          </a:p>
          <a:p>
            <a:r>
              <a:rPr lang="en-US" sz="2200" dirty="0">
                <a:cs typeface="Calibri"/>
              </a:rPr>
              <a:t>Last max pool layer replaced by </a:t>
            </a:r>
            <a:r>
              <a:rPr lang="en-US" sz="2200" dirty="0" err="1">
                <a:cs typeface="Calibri"/>
              </a:rPr>
              <a:t>RoI</a:t>
            </a:r>
            <a:r>
              <a:rPr lang="en-US" sz="2200" dirty="0">
                <a:cs typeface="Calibri"/>
              </a:rPr>
              <a:t> pooling</a:t>
            </a:r>
          </a:p>
          <a:p>
            <a:r>
              <a:rPr lang="en-US" sz="2200" dirty="0">
                <a:cs typeface="Calibri"/>
              </a:rPr>
              <a:t>Replace last FC with classification and </a:t>
            </a:r>
            <a:r>
              <a:rPr lang="en-US" sz="2200" dirty="0" err="1">
                <a:cs typeface="Calibri"/>
              </a:rPr>
              <a:t>bbox</a:t>
            </a:r>
            <a:r>
              <a:rPr lang="en-US" sz="2200" dirty="0">
                <a:cs typeface="Calibri"/>
              </a:rPr>
              <a:t> regression layers</a:t>
            </a:r>
          </a:p>
          <a:p>
            <a:r>
              <a:rPr lang="en-US" sz="2200" dirty="0">
                <a:cs typeface="Calibri"/>
              </a:rPr>
              <a:t>Modified to take image and set of </a:t>
            </a:r>
            <a:r>
              <a:rPr lang="en-US" sz="2200" dirty="0" err="1">
                <a:cs typeface="Calibri"/>
              </a:rPr>
              <a:t>bboxes</a:t>
            </a:r>
          </a:p>
        </p:txBody>
      </p:sp>
    </p:spTree>
    <p:extLst>
      <p:ext uri="{BB962C8B-B14F-4D97-AF65-F5344CB8AC3E}">
        <p14:creationId xmlns:p14="http://schemas.microsoft.com/office/powerpoint/2010/main" val="1126130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005A-2A2F-E909-2A32-7E8AE4F33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cs typeface="Calibri Light"/>
              </a:rPr>
              <a:t>On Batch Size</a:t>
            </a:r>
            <a:endParaRPr lang="en-US" sz="480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57DFAB46-3A90-ECCD-87F9-040350546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cs typeface="Calibri"/>
              </a:rPr>
              <a:t>Use less images (N)</a:t>
            </a:r>
          </a:p>
          <a:p>
            <a:r>
              <a:rPr lang="en-US" sz="2400" dirty="0">
                <a:cs typeface="Calibri"/>
              </a:rPr>
              <a:t>Use more </a:t>
            </a:r>
            <a:r>
              <a:rPr lang="en-US" sz="2400" dirty="0" err="1">
                <a:cs typeface="Calibri"/>
              </a:rPr>
              <a:t>RoIs</a:t>
            </a:r>
            <a:r>
              <a:rPr lang="en-US" sz="2400" dirty="0">
                <a:cs typeface="Calibri"/>
              </a:rPr>
              <a:t> (R) because they can share the feature  map!!</a:t>
            </a:r>
          </a:p>
          <a:p>
            <a:r>
              <a:rPr lang="en-US" sz="2400" dirty="0">
                <a:cs typeface="Calibri"/>
              </a:rPr>
              <a:t>N = 2, R= 128</a:t>
            </a:r>
          </a:p>
        </p:txBody>
      </p:sp>
    </p:spTree>
    <p:extLst>
      <p:ext uri="{BB962C8B-B14F-4D97-AF65-F5344CB8AC3E}">
        <p14:creationId xmlns:p14="http://schemas.microsoft.com/office/powerpoint/2010/main" val="415626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18F3-90D7-B771-C2AC-87D8DC8CA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Accelerating Large FC layers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8B3A-C973-780C-0E82-90E54A5BE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cs typeface="Calibri"/>
              </a:rPr>
              <a:t>Simply use SVD</a:t>
            </a:r>
          </a:p>
          <a:p>
            <a:endParaRPr lang="en-US" sz="2200" dirty="0">
              <a:cs typeface="Calibri"/>
            </a:endParaRPr>
          </a:p>
          <a:p>
            <a:endParaRPr lang="en-US" sz="2200" dirty="0">
              <a:cs typeface="Calibri"/>
            </a:endParaRPr>
          </a:p>
          <a:p>
            <a:endParaRPr lang="en-US" sz="2200" dirty="0">
              <a:cs typeface="Calibri"/>
            </a:endParaRPr>
          </a:p>
          <a:p>
            <a:r>
              <a:rPr lang="en-US" sz="2200" dirty="0">
                <a:cs typeface="Calibri"/>
              </a:rPr>
              <a:t>So truncate </a:t>
            </a:r>
            <a:r>
              <a:rPr lang="en-US" sz="2200" i="1" dirty="0">
                <a:cs typeface="Calibri"/>
              </a:rPr>
              <a:t>t</a:t>
            </a:r>
            <a:r>
              <a:rPr lang="en-US" sz="2200" dirty="0">
                <a:cs typeface="Calibri"/>
              </a:rPr>
              <a:t> to top singular values</a:t>
            </a:r>
          </a:p>
        </p:txBody>
      </p:sp>
      <p:pic>
        <p:nvPicPr>
          <p:cNvPr id="5" name="Picture 4" descr="Abstract particle graph background">
            <a:extLst>
              <a:ext uri="{FF2B5EF4-FFF2-40B4-BE49-F238E27FC236}">
                <a16:creationId xmlns:a16="http://schemas.microsoft.com/office/drawing/2014/main" id="{A52BE210-42B5-D6D2-7988-36AE8A5FEA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27" r="11018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4" name="Picture 3" descr="A black and white text&#10;&#10;Description automatically generated">
            <a:extLst>
              <a:ext uri="{FF2B5EF4-FFF2-40B4-BE49-F238E27FC236}">
                <a16:creationId xmlns:a16="http://schemas.microsoft.com/office/drawing/2014/main" id="{B703CC47-BA59-E04E-BF56-5F39BC74B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67" y="3283303"/>
            <a:ext cx="2200275" cy="742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942C70-D46D-D8C9-1BDA-9D4026D63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391" y="4075524"/>
            <a:ext cx="17907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21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3DE1-1479-921B-D1FD-08C752CD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Faster R-CNN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BE0BE4A6-8578-2C00-A9C0-5940023B1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Fast R-CNN still needs as input a set of bboxes separately computed!!</a:t>
            </a:r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AA1C9770-6A64-6D8C-D341-6F4D90AEA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37" y="2642616"/>
            <a:ext cx="3380422" cy="3605784"/>
          </a:xfrm>
          <a:prstGeom prst="rect">
            <a:avLst/>
          </a:prstGeom>
        </p:spPr>
      </p:pic>
      <p:pic>
        <p:nvPicPr>
          <p:cNvPr id="5" name="Picture 4" descr="White arrows going to the red target">
            <a:extLst>
              <a:ext uri="{FF2B5EF4-FFF2-40B4-BE49-F238E27FC236}">
                <a16:creationId xmlns:a16="http://schemas.microsoft.com/office/drawing/2014/main" id="{9CB3CFA9-3907-5E6A-4012-FABB61C8C5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15603"/>
          <a:stretch/>
        </p:blipFill>
        <p:spPr>
          <a:xfrm>
            <a:off x="6254496" y="2864099"/>
            <a:ext cx="5614416" cy="316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56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AADF-A7B9-814E-B888-E493A521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Generate Region Proposals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5D47A-AD47-8B94-6FA2-C5B9B543DE3D}"/>
              </a:ext>
            </a:extLst>
          </p:cNvPr>
          <p:cNvSpPr txBox="1"/>
          <p:nvPr/>
        </p:nvSpPr>
        <p:spPr>
          <a:xfrm>
            <a:off x="1994370" y="3631259"/>
            <a:ext cx="602638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Slide a 3x3, grab the feature from the shared feature map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At each sliding window position, generate </a:t>
            </a:r>
            <a:r>
              <a:rPr lang="en-US" i="1" dirty="0">
                <a:cs typeface="Calibri"/>
              </a:rPr>
              <a:t>k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bbox</a:t>
            </a:r>
            <a:r>
              <a:rPr lang="en-US" dirty="0">
                <a:cs typeface="Calibri"/>
              </a:rPr>
              <a:t> anchors at different scales and positions (from the center of the sliding window)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</p:txBody>
      </p:sp>
      <p:pic>
        <p:nvPicPr>
          <p:cNvPr id="6" name="Picture 5" descr="A diagram of a window&#10;&#10;Description automatically generated">
            <a:extLst>
              <a:ext uri="{FF2B5EF4-FFF2-40B4-BE49-F238E27FC236}">
                <a16:creationId xmlns:a16="http://schemas.microsoft.com/office/drawing/2014/main" id="{40799E54-2E8E-156E-6CB2-5B5A37CAF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141" y="3004529"/>
            <a:ext cx="3815644" cy="230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49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umbbells on a gym floor">
            <a:extLst>
              <a:ext uri="{FF2B5EF4-FFF2-40B4-BE49-F238E27FC236}">
                <a16:creationId xmlns:a16="http://schemas.microsoft.com/office/drawing/2014/main" id="{816009A1-903E-D538-4AE8-81203145A2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1504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27293A-6D69-3051-5739-DB7B89FF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Training Scheme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BDCE9-B008-01C1-1B93-AD7A66C288BA}"/>
              </a:ext>
            </a:extLst>
          </p:cNvPr>
          <p:cNvSpPr txBox="1"/>
          <p:nvPr/>
        </p:nvSpPr>
        <p:spPr>
          <a:xfrm>
            <a:off x="1411111" y="1157111"/>
            <a:ext cx="5518385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en-US" sz="2400" dirty="0">
                <a:cs typeface="Calibri" panose="020F0502020204030204"/>
              </a:rPr>
              <a:t>Alternating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>
                <a:cs typeface="Calibri" panose="020F0502020204030204"/>
              </a:rPr>
              <a:t>Do RPN first then Fast R-CNN</a:t>
            </a:r>
          </a:p>
          <a:p>
            <a:pPr marL="342900" indent="-342900">
              <a:buAutoNum type="arabicPeriod"/>
            </a:pPr>
            <a:r>
              <a:rPr lang="en-US" sz="2400" dirty="0">
                <a:cs typeface="Calibri" panose="020F0502020204030204"/>
              </a:rPr>
              <a:t>Approximate Joint Training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>
                <a:cs typeface="Calibri" panose="020F0502020204030204"/>
              </a:rPr>
              <a:t>Backprop to the share layers of RPN and R-CNN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>
                <a:cs typeface="Calibri" panose="020F0502020204030204"/>
              </a:rPr>
              <a:t>Will not update </a:t>
            </a:r>
            <a:r>
              <a:rPr lang="en-US" sz="2400" err="1">
                <a:cs typeface="Calibri" panose="020F0502020204030204"/>
              </a:rPr>
              <a:t>RoI</a:t>
            </a:r>
            <a:r>
              <a:rPr lang="en-US" sz="2400" dirty="0">
                <a:cs typeface="Calibri" panose="020F0502020204030204"/>
              </a:rPr>
              <a:t> Pooling</a:t>
            </a:r>
          </a:p>
          <a:p>
            <a:pPr marL="342900" indent="-342900">
              <a:buAutoNum type="arabicPeriod"/>
            </a:pPr>
            <a:r>
              <a:rPr lang="en-US" sz="2400" dirty="0">
                <a:cs typeface="Calibri" panose="020F0502020204030204"/>
              </a:rPr>
              <a:t>Non-Approximate Joint Training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>
                <a:cs typeface="Calibri" panose="020F0502020204030204"/>
              </a:rPr>
              <a:t>Need differentiable </a:t>
            </a:r>
            <a:r>
              <a:rPr lang="en-US" sz="2400" dirty="0" err="1">
                <a:cs typeface="Calibri" panose="020F0502020204030204"/>
              </a:rPr>
              <a:t>RoI</a:t>
            </a:r>
            <a:r>
              <a:rPr lang="en-US" sz="2400" dirty="0">
                <a:cs typeface="Calibri" panose="020F0502020204030204"/>
              </a:rPr>
              <a:t> Pooling</a:t>
            </a:r>
          </a:p>
        </p:txBody>
      </p:sp>
    </p:spTree>
    <p:extLst>
      <p:ext uri="{BB962C8B-B14F-4D97-AF65-F5344CB8AC3E}">
        <p14:creationId xmlns:p14="http://schemas.microsoft.com/office/powerpoint/2010/main" val="51903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377A-1C11-26E7-3C3D-150377DB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043" y="590062"/>
            <a:ext cx="5309140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Final 4-Steps Training Scheme</a:t>
            </a:r>
            <a:endParaRPr lang="en-US" dirty="0"/>
          </a:p>
        </p:txBody>
      </p:sp>
      <p:pic>
        <p:nvPicPr>
          <p:cNvPr id="5" name="Picture 4" descr="Colourful pins linked with threads">
            <a:extLst>
              <a:ext uri="{FF2B5EF4-FFF2-40B4-BE49-F238E27FC236}">
                <a16:creationId xmlns:a16="http://schemas.microsoft.com/office/drawing/2014/main" id="{133C9745-B643-FDD3-3C39-D0673DA42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47" r="11909" b="-12"/>
          <a:stretch/>
        </p:blipFill>
        <p:spPr>
          <a:xfrm>
            <a:off x="6740358" y="1606411"/>
            <a:ext cx="5451642" cy="5251590"/>
          </a:xfrm>
          <a:custGeom>
            <a:avLst/>
            <a:gdLst/>
            <a:ahLst/>
            <a:cxnLst/>
            <a:rect l="l" t="t" r="r" b="b"/>
            <a:pathLst>
              <a:path w="5923214" h="5705857">
                <a:moveTo>
                  <a:pt x="3612238" y="0"/>
                </a:moveTo>
                <a:cubicBezTo>
                  <a:pt x="4485043" y="0"/>
                  <a:pt x="5285549" y="309553"/>
                  <a:pt x="5909957" y="824860"/>
                </a:cubicBezTo>
                <a:lnTo>
                  <a:pt x="5923214" y="836909"/>
                </a:lnTo>
                <a:lnTo>
                  <a:pt x="5923214" y="5705857"/>
                </a:lnTo>
                <a:lnTo>
                  <a:pt x="672237" y="5705857"/>
                </a:lnTo>
                <a:lnTo>
                  <a:pt x="616914" y="5631875"/>
                </a:lnTo>
                <a:cubicBezTo>
                  <a:pt x="227427" y="5055358"/>
                  <a:pt x="0" y="4360357"/>
                  <a:pt x="0" y="3612238"/>
                </a:cubicBezTo>
                <a:cubicBezTo>
                  <a:pt x="0" y="1617255"/>
                  <a:pt x="1617255" y="0"/>
                  <a:pt x="3612238" y="0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85317C-0769-CB07-E583-308B0F6C9330}"/>
              </a:ext>
            </a:extLst>
          </p:cNvPr>
          <p:cNvSpPr txBox="1"/>
          <p:nvPr/>
        </p:nvSpPr>
        <p:spPr>
          <a:xfrm>
            <a:off x="1467555" y="4026369"/>
            <a:ext cx="577238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cs typeface="Calibri" panose="020F0502020204030204"/>
              </a:rPr>
              <a:t>Train RPN with a pretrained ImageNet backbone</a:t>
            </a:r>
          </a:p>
          <a:p>
            <a:pPr marL="342900" indent="-342900">
              <a:buAutoNum type="arabicPeriod"/>
            </a:pPr>
            <a:r>
              <a:rPr lang="en-US" dirty="0">
                <a:cs typeface="Calibri" panose="020F0502020204030204"/>
              </a:rPr>
              <a:t>Train a separate Fast R-CNN using proposals from step 1</a:t>
            </a:r>
          </a:p>
          <a:p>
            <a:pPr marL="342900" indent="-342900">
              <a:buAutoNum type="arabicPeriod"/>
            </a:pPr>
            <a:r>
              <a:rPr lang="en-US" dirty="0">
                <a:cs typeface="Calibri" panose="020F0502020204030204"/>
              </a:rPr>
              <a:t>Use model trained in step 2 to start training RPN (approximate Joint)</a:t>
            </a:r>
          </a:p>
          <a:p>
            <a:pPr marL="342900" indent="-342900">
              <a:buAutoNum type="arabicPeriod"/>
            </a:pPr>
            <a:r>
              <a:rPr lang="en-US" dirty="0">
                <a:cs typeface="Calibri" panose="020F0502020204030204"/>
              </a:rPr>
              <a:t>Fine tune Fast R-CNN unique layers</a:t>
            </a:r>
          </a:p>
          <a:p>
            <a:pPr marL="342900" indent="-342900"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74293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3FBF3-F66F-DA85-0ECB-4DFCA356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cs typeface="Calibri Light"/>
              </a:rPr>
              <a:t>DETR (Detection Transformer)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6F7B19B-8508-4B5C-18F6-66E1E67B8B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183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F0C9-5A47-6110-6264-2C06610B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524" y="547815"/>
            <a:ext cx="5991227" cy="1683019"/>
          </a:xfrm>
        </p:spPr>
        <p:txBody>
          <a:bodyPr>
            <a:normAutofit/>
          </a:bodyPr>
          <a:lstStyle/>
          <a:p>
            <a:r>
              <a:rPr lang="en-US" sz="4000">
                <a:cs typeface="Calibri Light"/>
              </a:rPr>
              <a:t>Key Ingredients</a:t>
            </a:r>
            <a:endParaRPr lang="en-US" sz="4000"/>
          </a:p>
        </p:txBody>
      </p:sp>
      <p:pic>
        <p:nvPicPr>
          <p:cNvPr id="4" name="Picture 3" descr="A diagram of a box&#10;&#10;Description automatically generated">
            <a:extLst>
              <a:ext uri="{FF2B5EF4-FFF2-40B4-BE49-F238E27FC236}">
                <a16:creationId xmlns:a16="http://schemas.microsoft.com/office/drawing/2014/main" id="{DC876E54-CEAD-7955-0364-0A0E86F50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62" y="1033851"/>
            <a:ext cx="4810874" cy="902039"/>
          </a:xfrm>
          <a:prstGeom prst="rect">
            <a:avLst/>
          </a:prstGeom>
        </p:spPr>
      </p:pic>
      <p:pic>
        <p:nvPicPr>
          <p:cNvPr id="5" name="Picture 4" descr="Baking ingredients on a table">
            <a:extLst>
              <a:ext uri="{FF2B5EF4-FFF2-40B4-BE49-F238E27FC236}">
                <a16:creationId xmlns:a16="http://schemas.microsoft.com/office/drawing/2014/main" id="{0E3F72AC-CB1A-16FA-8142-40AB2D9C6F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605" r="-2" b="-2"/>
          <a:stretch/>
        </p:blipFill>
        <p:spPr>
          <a:xfrm>
            <a:off x="185357" y="3188092"/>
            <a:ext cx="4810874" cy="271015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CC3CE-E306-9DA7-36F5-94359E8AF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9524" y="2409568"/>
            <a:ext cx="5991227" cy="36905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cs typeface="Calibri"/>
              </a:rPr>
              <a:t>Set prediction loss that enforce unique matches</a:t>
            </a:r>
          </a:p>
          <a:p>
            <a:pPr lvl="1"/>
            <a:r>
              <a:rPr lang="en-US" sz="2000">
                <a:cs typeface="Calibri"/>
              </a:rPr>
              <a:t>Recall in Faster R-CNN, there often are multiple overlapping </a:t>
            </a:r>
            <a:r>
              <a:rPr lang="en-US" sz="2000" err="1">
                <a:cs typeface="Calibri"/>
              </a:rPr>
              <a:t>bboxes</a:t>
            </a:r>
          </a:p>
          <a:p>
            <a:r>
              <a:rPr lang="en-US" sz="2000">
                <a:ea typeface="+mn-lt"/>
                <a:cs typeface="+mn-lt"/>
              </a:rPr>
              <a:t>An architecture that predicts (in a single pass) a set of objects and models their relation.</a:t>
            </a: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2404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3E16-9A54-4117-E9F3-2AFC8651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Details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F7419B-C797-E103-D680-718A094F7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4525" y="911265"/>
            <a:ext cx="5191125" cy="28575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8FC4D0-0EA8-1F41-51FB-F2CF086D1719}"/>
              </a:ext>
            </a:extLst>
          </p:cNvPr>
          <p:cNvSpPr txBox="1"/>
          <p:nvPr/>
        </p:nvSpPr>
        <p:spPr>
          <a:xfrm>
            <a:off x="4254499" y="1197092"/>
            <a:ext cx="84346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cs typeface="Calibri"/>
              </a:rPr>
              <a:t>N </a:t>
            </a:r>
            <a:r>
              <a:rPr lang="en-US">
                <a:cs typeface="Calibri"/>
              </a:rPr>
              <a:t> is a large number such that an image will not contain more than </a:t>
            </a:r>
            <a:r>
              <a:rPr lang="en-US" i="1">
                <a:cs typeface="Calibri"/>
              </a:rPr>
              <a:t>N</a:t>
            </a:r>
            <a:r>
              <a:rPr lang="en-US">
                <a:cs typeface="Calibri"/>
              </a:rPr>
              <a:t> objects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DF4D0C-62FB-41BB-0C06-35C15FA71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818" y="1515411"/>
            <a:ext cx="6760162" cy="303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104CDB-A309-1C82-6E19-1849BC503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585" y="2865743"/>
            <a:ext cx="3608681" cy="910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26B507-55B4-402D-F43B-3832791FC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862" y="4010731"/>
            <a:ext cx="1276350" cy="247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24BCAD-E92C-60C9-7992-B7904F1AC972}"/>
              </a:ext>
            </a:extLst>
          </p:cNvPr>
          <p:cNvSpPr txBox="1"/>
          <p:nvPr/>
        </p:nvSpPr>
        <p:spPr>
          <a:xfrm>
            <a:off x="4572000" y="2712357"/>
            <a:ext cx="48114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Step 1 – Hungarian Matching: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C318EB-EAFF-DBE8-1E0B-1E8D7FEAE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3257" y="4495860"/>
            <a:ext cx="4112985" cy="333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C5117E-1DDD-212C-ECCF-17E40DBDF2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829" y="5127887"/>
            <a:ext cx="6398985" cy="248939"/>
          </a:xfrm>
          <a:prstGeom prst="rect">
            <a:avLst/>
          </a:prstGeom>
        </p:spPr>
      </p:pic>
      <p:pic>
        <p:nvPicPr>
          <p:cNvPr id="14" name="Picture 13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8DA2DEA9-0CF5-A587-2BD9-80EFB09CE7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5289" y="5697686"/>
            <a:ext cx="3194755" cy="47677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47261E-5D8B-1482-DE23-363667C787B1}"/>
              </a:ext>
            </a:extLst>
          </p:cNvPr>
          <p:cNvCxnSpPr/>
          <p:nvPr/>
        </p:nvCxnSpPr>
        <p:spPr>
          <a:xfrm>
            <a:off x="5873985" y="5342466"/>
            <a:ext cx="1882" cy="472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694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3346-DFC8-9C67-D2DF-122D96EC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>
                <a:cs typeface="Calibri Light"/>
              </a:rPr>
              <a:t>Details</a:t>
            </a:r>
            <a:endParaRPr lang="en-US" sz="4000"/>
          </a:p>
        </p:txBody>
      </p:sp>
      <p:pic>
        <p:nvPicPr>
          <p:cNvPr id="5" name="Picture 4" descr="Inside view of a red umbrella">
            <a:extLst>
              <a:ext uri="{FF2B5EF4-FFF2-40B4-BE49-F238E27FC236}">
                <a16:creationId xmlns:a16="http://schemas.microsoft.com/office/drawing/2014/main" id="{8A4110B5-B540-705C-38E7-9476D2A6B9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82" r="27932" b="-3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452417D-6DF7-62A6-9283-082B85E8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cs typeface="Calibri"/>
              </a:rPr>
              <a:t>Step 2 – Hungarian Loss:</a:t>
            </a:r>
            <a:endParaRPr lang="en-US" sz="2000"/>
          </a:p>
        </p:txBody>
      </p:sp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FAC6986-481D-07D5-4504-203FD66DC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2955480"/>
            <a:ext cx="6826014" cy="909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4D8A2-9D07-42A1-FB26-DDD530974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252" y="3964076"/>
            <a:ext cx="5490162" cy="2939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DF900C-D17B-0222-7978-13B473ECC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252" y="4422759"/>
            <a:ext cx="5490162" cy="24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44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0556-8FFA-2BA3-4431-D338BB03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DETR Architecture</a:t>
            </a:r>
          </a:p>
        </p:txBody>
      </p:sp>
      <p:pic>
        <p:nvPicPr>
          <p:cNvPr id="4" name="Content Placeholder 3" descr="A diagram of a transformer decoder&#10;&#10;Description automatically generated">
            <a:extLst>
              <a:ext uri="{FF2B5EF4-FFF2-40B4-BE49-F238E27FC236}">
                <a16:creationId xmlns:a16="http://schemas.microsoft.com/office/drawing/2014/main" id="{45AFAF2F-9DDE-55CE-FC65-64240B9C7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297216"/>
            <a:ext cx="10744200" cy="282035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A440C1-E85E-E34F-E40A-C640B244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79" y="5049603"/>
            <a:ext cx="1533525" cy="352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102187-A579-8C88-20AD-59B7D0E26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030" y="5118969"/>
            <a:ext cx="2366904" cy="3171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45787D-C2D0-E29B-8403-C8F5EE034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234" y="5510800"/>
            <a:ext cx="1762125" cy="314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DD22D-C2CE-DCFC-4F7D-DD8FBFCD5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1246" y="5867930"/>
            <a:ext cx="1562100" cy="371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335C07-7095-BEA6-EB8B-8B7FBD0AC8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1493" y="6277681"/>
            <a:ext cx="838200" cy="285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DAE08F-DB32-CDB9-94F3-651C797699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103" y="2211303"/>
            <a:ext cx="3740385" cy="139987"/>
          </a:xfrm>
          <a:prstGeom prst="rect">
            <a:avLst/>
          </a:prstGeom>
        </p:spPr>
      </p:pic>
      <p:pic>
        <p:nvPicPr>
          <p:cNvPr id="19" name="Picture 18" descr="A close up of words&#10;&#10;Description automatically generated">
            <a:extLst>
              <a:ext uri="{FF2B5EF4-FFF2-40B4-BE49-F238E27FC236}">
                <a16:creationId xmlns:a16="http://schemas.microsoft.com/office/drawing/2014/main" id="{A61949C1-186A-231B-5338-7552754FC2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8993" y="1934641"/>
            <a:ext cx="3317051" cy="2229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524803-3977-396B-D0F5-916D07924B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7807" y="2074978"/>
            <a:ext cx="3655718" cy="2338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6E2E1B5-7E26-3078-071D-B966C94D03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3807" y="5051743"/>
            <a:ext cx="2743200" cy="27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51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nference room table">
            <a:extLst>
              <a:ext uri="{FF2B5EF4-FFF2-40B4-BE49-F238E27FC236}">
                <a16:creationId xmlns:a16="http://schemas.microsoft.com/office/drawing/2014/main" id="{4F63D744-871D-15AA-1938-5CE23FE45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542" r="-2" b="21402"/>
          <a:stretch/>
        </p:blipFill>
        <p:spPr>
          <a:xfrm>
            <a:off x="25175" y="47047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659DE-2B70-F2D0-7BFC-42AE95910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0192" y="2044622"/>
            <a:ext cx="4285488" cy="18557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Training Details</a:t>
            </a:r>
          </a:p>
        </p:txBody>
      </p:sp>
      <p:pic>
        <p:nvPicPr>
          <p:cNvPr id="4" name="Picture 3" descr="A text on a page&#10;&#10;Description automatically generated">
            <a:extLst>
              <a:ext uri="{FF2B5EF4-FFF2-40B4-BE49-F238E27FC236}">
                <a16:creationId xmlns:a16="http://schemas.microsoft.com/office/drawing/2014/main" id="{3918A572-030D-027D-7759-D2D230591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07" y="248415"/>
            <a:ext cx="5541866" cy="4026626"/>
          </a:xfrm>
          <a:prstGeom prst="rect">
            <a:avLst/>
          </a:prstGeom>
        </p:spPr>
      </p:pic>
      <p:pic>
        <p:nvPicPr>
          <p:cNvPr id="6" name="Picture 5" descr="A close up of a text&#10;&#10;Description automatically generated">
            <a:extLst>
              <a:ext uri="{FF2B5EF4-FFF2-40B4-BE49-F238E27FC236}">
                <a16:creationId xmlns:a16="http://schemas.microsoft.com/office/drawing/2014/main" id="{3DED6412-53FC-5AB9-CA1E-37BFEECD8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07" y="4279408"/>
            <a:ext cx="5547962" cy="208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85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2F3861-E68D-3F0C-2B08-80B84955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DINO - </a:t>
            </a:r>
            <a:r>
              <a:rPr lang="en-US" sz="4800" u="sng">
                <a:solidFill>
                  <a:schemeClr val="bg1"/>
                </a:solidFill>
                <a:ea typeface="+mj-lt"/>
                <a:cs typeface="+mj-lt"/>
              </a:rPr>
              <a:t>D</a:t>
            </a:r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ETR with </a:t>
            </a:r>
            <a:r>
              <a:rPr lang="en-US" sz="4800" u="sng">
                <a:solidFill>
                  <a:schemeClr val="bg1"/>
                </a:solidFill>
                <a:ea typeface="+mj-lt"/>
                <a:cs typeface="+mj-lt"/>
              </a:rPr>
              <a:t>I</a:t>
            </a:r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mproved de</a:t>
            </a:r>
            <a:r>
              <a:rPr lang="en-US" sz="4800" u="sng">
                <a:solidFill>
                  <a:schemeClr val="bg1"/>
                </a:solidFill>
                <a:ea typeface="+mj-lt"/>
                <a:cs typeface="+mj-lt"/>
              </a:rPr>
              <a:t>N</a:t>
            </a:r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oising anch</a:t>
            </a:r>
            <a:r>
              <a:rPr lang="en-US" sz="4800" u="sng">
                <a:solidFill>
                  <a:schemeClr val="bg1"/>
                </a:solidFill>
                <a:ea typeface="+mj-lt"/>
                <a:cs typeface="+mj-lt"/>
              </a:rPr>
              <a:t>O</a:t>
            </a:r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r boxes</a:t>
            </a:r>
            <a:endParaRPr lang="en-US" sz="4800">
              <a:solidFill>
                <a:schemeClr val="bg1"/>
              </a:solidFill>
            </a:endParaRPr>
          </a:p>
        </p:txBody>
      </p:sp>
      <p:pic>
        <p:nvPicPr>
          <p:cNvPr id="5" name="Content Placeholder 3" descr="A diagram of a transformer decoder&#10;&#10;Description automatically generated">
            <a:extLst>
              <a:ext uri="{FF2B5EF4-FFF2-40B4-BE49-F238E27FC236}">
                <a16:creationId xmlns:a16="http://schemas.microsoft.com/office/drawing/2014/main" id="{189F142E-F022-5515-99B1-510F4785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827250"/>
            <a:ext cx="10843065" cy="2846305"/>
          </a:xfrm>
          <a:prstGeom prst="rect">
            <a:avLst/>
          </a:prstGeom>
          <a:noFill/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D1C79-124E-2010-22CF-FEAC2657F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Denoising training</a:t>
            </a:r>
          </a:p>
          <a:p>
            <a:r>
              <a:rPr lang="en-US" sz="1800">
                <a:solidFill>
                  <a:schemeClr val="bg1"/>
                </a:solidFill>
              </a:rPr>
              <a:t>Mixed query selection for anchor initialization</a:t>
            </a:r>
          </a:p>
          <a:p>
            <a:r>
              <a:rPr lang="en-US" sz="1800">
                <a:solidFill>
                  <a:schemeClr val="bg1"/>
                </a:solidFill>
              </a:rPr>
              <a:t>Look forward twice scheme for box predictions</a:t>
            </a:r>
          </a:p>
        </p:txBody>
      </p:sp>
    </p:spTree>
    <p:extLst>
      <p:ext uri="{BB962C8B-B14F-4D97-AF65-F5344CB8AC3E}">
        <p14:creationId xmlns:p14="http://schemas.microsoft.com/office/powerpoint/2010/main" val="2548928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machine learning process&#10;&#10;AI-generated content may be incorrect.">
            <a:extLst>
              <a:ext uri="{FF2B5EF4-FFF2-40B4-BE49-F238E27FC236}">
                <a16:creationId xmlns:a16="http://schemas.microsoft.com/office/drawing/2014/main" id="{763194EA-4508-92B0-5E90-BB076DE41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" y="480795"/>
            <a:ext cx="8582664" cy="3071553"/>
          </a:xfrm>
          <a:prstGeom prst="rect">
            <a:avLst/>
          </a:prstGeom>
        </p:spPr>
      </p:pic>
      <p:pic>
        <p:nvPicPr>
          <p:cNvPr id="6" name="Content Placeholder 3" descr="A diagram of a transformer decoder&#10;&#10;Description automatically generated">
            <a:extLst>
              <a:ext uri="{FF2B5EF4-FFF2-40B4-BE49-F238E27FC236}">
                <a16:creationId xmlns:a16="http://schemas.microsoft.com/office/drawing/2014/main" id="{82DAAD13-3DAE-A3F5-B606-792172BB6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83" y="3427015"/>
            <a:ext cx="10843065" cy="2846305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7C7128D-047D-877A-A998-73BC13467A2E}"/>
                  </a:ext>
                </a:extLst>
              </p14:cNvPr>
              <p14:cNvContentPartPr/>
              <p14:nvPr/>
            </p14:nvContentPartPr>
            <p14:xfrm>
              <a:off x="3779669" y="1236340"/>
              <a:ext cx="2304245" cy="743899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7C7128D-047D-877A-A998-73BC13467A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61673" y="1218705"/>
                <a:ext cx="2339878" cy="779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32C6AB-D4C6-D061-B44D-8DDB8EE312D4}"/>
                  </a:ext>
                </a:extLst>
              </p14:cNvPr>
              <p14:cNvContentPartPr/>
              <p14:nvPr/>
            </p14:nvContentPartPr>
            <p14:xfrm>
              <a:off x="6746442" y="2407533"/>
              <a:ext cx="2163816" cy="750126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32C6AB-D4C6-D061-B44D-8DDB8EE312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28806" y="2389904"/>
                <a:ext cx="2199448" cy="785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3EF6B6-92C2-D8A3-AD01-8796C7A457A6}"/>
                  </a:ext>
                </a:extLst>
              </p14:cNvPr>
              <p14:cNvContentPartPr/>
              <p14:nvPr/>
            </p14:nvContentPartPr>
            <p14:xfrm>
              <a:off x="6734471" y="1410651"/>
              <a:ext cx="1671042" cy="588039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3EF6B6-92C2-D8A3-AD01-8796C7A457A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16476" y="1393017"/>
                <a:ext cx="1706673" cy="623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689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6E7F-0ED2-FDEC-18B6-112CA7D5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Denoising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FD918-36CC-2771-B916-C6BC4407C790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curvedUpArrow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Denoising was added to SOTA like DN-DETR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Adds noise to </a:t>
            </a:r>
            <a:r>
              <a:rPr lang="en-US" dirty="0">
                <a:ea typeface="+mn-lt"/>
                <a:cs typeface="+mn-lt"/>
              </a:rPr>
              <a:t>ground truth labels and boxes into the Transformer decoder layers to help stabilize bipartite matching during training</a:t>
            </a:r>
            <a:endParaRPr lang="en-US" dirty="0"/>
          </a:p>
          <a:p>
            <a:r>
              <a:rPr lang="en-US" dirty="0"/>
              <a:t>DN-DETR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Can't really detect as "no objects" for anchors with no nearby objects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Hyperparam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Controls noise scale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DINO introduces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Noise scale: &lt;          , between                                   , &gt;  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2D5AE0-26E6-6774-96D1-174B26182F55}"/>
                  </a:ext>
                </a:extLst>
              </p14:cNvPr>
              <p14:cNvContentPartPr/>
              <p14:nvPr/>
            </p14:nvContentPartPr>
            <p14:xfrm>
              <a:off x="2343630" y="1055004"/>
              <a:ext cx="12806" cy="12806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2D5AE0-26E6-6774-96D1-174B26182F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6136" y="414704"/>
                <a:ext cx="1280600" cy="12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4EFE96-EE65-6EEE-B26E-8FAB18092A44}"/>
                  </a:ext>
                </a:extLst>
              </p14:cNvPr>
              <p14:cNvContentPartPr/>
              <p14:nvPr/>
            </p14:nvContentPartPr>
            <p14:xfrm>
              <a:off x="2343630" y="1055004"/>
              <a:ext cx="12806" cy="1280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4EFE96-EE65-6EEE-B26E-8FAB18092A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6136" y="414704"/>
                <a:ext cx="1280600" cy="12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3767CB9-7A38-419B-29B7-C82F7159B1D5}"/>
                  </a:ext>
                </a:extLst>
              </p14:cNvPr>
              <p14:cNvContentPartPr/>
              <p14:nvPr/>
            </p14:nvContentPartPr>
            <p14:xfrm>
              <a:off x="1689753" y="926653"/>
              <a:ext cx="12806" cy="12806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3767CB9-7A38-419B-29B7-C82F7159B1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0588" y="713220"/>
                <a:ext cx="435404" cy="435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972ABBA-08CC-D58A-B195-D2EF95535401}"/>
                  </a:ext>
                </a:extLst>
              </p14:cNvPr>
              <p14:cNvContentPartPr/>
              <p14:nvPr/>
            </p14:nvContentPartPr>
            <p14:xfrm>
              <a:off x="1727657" y="2476450"/>
              <a:ext cx="12806" cy="12806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972ABBA-08CC-D58A-B195-D2EF955354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0163" y="1836150"/>
                <a:ext cx="1280600" cy="12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FD41E24-2C90-FD76-9AAF-BAA3EB417F20}"/>
                  </a:ext>
                </a:extLst>
              </p14:cNvPr>
              <p14:cNvContentPartPr/>
              <p14:nvPr/>
            </p14:nvContentPartPr>
            <p14:xfrm>
              <a:off x="2797468" y="923635"/>
              <a:ext cx="12806" cy="1280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FD41E24-2C90-FD76-9AAF-BAA3EB417F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7168" y="296141"/>
                <a:ext cx="1280600" cy="12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33B462-9E97-57BB-9B8A-177F4A14276B}"/>
                  </a:ext>
                </a:extLst>
              </p14:cNvPr>
              <p14:cNvContentPartPr/>
              <p14:nvPr/>
            </p14:nvContentPartPr>
            <p14:xfrm>
              <a:off x="2797468" y="923635"/>
              <a:ext cx="12806" cy="12806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33B462-9E97-57BB-9B8A-177F4A1427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7168" y="296141"/>
                <a:ext cx="1280600" cy="12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116C4BC-6A85-EE69-3E64-A2EE85174AD0}"/>
                  </a:ext>
                </a:extLst>
              </p14:cNvPr>
              <p14:cNvContentPartPr/>
              <p14:nvPr/>
            </p14:nvContentPartPr>
            <p14:xfrm>
              <a:off x="2797468" y="923635"/>
              <a:ext cx="12806" cy="12806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116C4BC-6A85-EE69-3E64-A2EE85174A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7168" y="296141"/>
                <a:ext cx="1280600" cy="12806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 descr="A black letter k&#10;&#10;AI-generated content may be incorrect.">
            <a:extLst>
              <a:ext uri="{FF2B5EF4-FFF2-40B4-BE49-F238E27FC236}">
                <a16:creationId xmlns:a16="http://schemas.microsoft.com/office/drawing/2014/main" id="{C10C8D5D-A5A0-63D2-347F-5E9B3EFF36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5551" y="3836670"/>
            <a:ext cx="436626" cy="513588"/>
          </a:xfrm>
          <a:prstGeom prst="rect">
            <a:avLst/>
          </a:prstGeom>
        </p:spPr>
      </p:pic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CCCCE7C-7025-7E89-AF07-F06B00B17D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6393" y="4570857"/>
            <a:ext cx="1623822" cy="465582"/>
          </a:xfrm>
          <a:prstGeom prst="rect">
            <a:avLst/>
          </a:prstGeom>
        </p:spPr>
      </p:pic>
      <p:pic>
        <p:nvPicPr>
          <p:cNvPr id="13" name="Picture 12" descr="A black letter with a number one&#10;&#10;AI-generated content may be incorrect.">
            <a:extLst>
              <a:ext uri="{FF2B5EF4-FFF2-40B4-BE49-F238E27FC236}">
                <a16:creationId xmlns:a16="http://schemas.microsoft.com/office/drawing/2014/main" id="{F205D344-026A-BF3B-E3D8-A68D21C516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7313" y="5009007"/>
            <a:ext cx="398526" cy="424434"/>
          </a:xfrm>
          <a:prstGeom prst="rect">
            <a:avLst/>
          </a:prstGeom>
        </p:spPr>
      </p:pic>
      <p:pic>
        <p:nvPicPr>
          <p:cNvPr id="14" name="Picture 1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11971B7-C48D-0701-ED30-5DDC589025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4089" y="4973192"/>
            <a:ext cx="1623822" cy="465582"/>
          </a:xfrm>
          <a:prstGeom prst="rect">
            <a:avLst/>
          </a:prstGeom>
        </p:spPr>
      </p:pic>
      <p:pic>
        <p:nvPicPr>
          <p:cNvPr id="15" name="Picture 14" descr="A black letter and number&#10;&#10;AI-generated content may be incorrect.">
            <a:extLst>
              <a:ext uri="{FF2B5EF4-FFF2-40B4-BE49-F238E27FC236}">
                <a16:creationId xmlns:a16="http://schemas.microsoft.com/office/drawing/2014/main" id="{BE0CA3FC-DC05-B456-6154-5840F75F89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48906" y="5034153"/>
            <a:ext cx="431292" cy="459486"/>
          </a:xfrm>
          <a:prstGeom prst="rect">
            <a:avLst/>
          </a:prstGeom>
        </p:spPr>
      </p:pic>
      <p:sp>
        <p:nvSpPr>
          <p:cNvPr id="17" name="Arrow: Bent 16">
            <a:extLst>
              <a:ext uri="{FF2B5EF4-FFF2-40B4-BE49-F238E27FC236}">
                <a16:creationId xmlns:a16="http://schemas.microsoft.com/office/drawing/2014/main" id="{F04D03E2-0844-23E7-8724-8D9E18F92CC1}"/>
              </a:ext>
            </a:extLst>
          </p:cNvPr>
          <p:cNvSpPr/>
          <p:nvPr/>
        </p:nvSpPr>
        <p:spPr>
          <a:xfrm rot="16200000">
            <a:off x="5718048" y="5358384"/>
            <a:ext cx="475488" cy="63398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9DEAB1-5812-CA76-0465-35EC9CF761E1}"/>
              </a:ext>
            </a:extLst>
          </p:cNvPr>
          <p:cNvSpPr txBox="1"/>
          <p:nvPr/>
        </p:nvSpPr>
        <p:spPr>
          <a:xfrm>
            <a:off x="6193536" y="565099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"no object"</a:t>
            </a: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9F3B8641-DCF6-F9DD-562C-1F832A79C246}"/>
              </a:ext>
            </a:extLst>
          </p:cNvPr>
          <p:cNvSpPr/>
          <p:nvPr/>
        </p:nvSpPr>
        <p:spPr>
          <a:xfrm rot="16200000">
            <a:off x="3712463" y="5334000"/>
            <a:ext cx="475488" cy="63398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CD6A88-AF7B-75DD-CC08-69B21025D5DB}"/>
              </a:ext>
            </a:extLst>
          </p:cNvPr>
          <p:cNvSpPr txBox="1"/>
          <p:nvPr/>
        </p:nvSpPr>
        <p:spPr>
          <a:xfrm>
            <a:off x="4267200" y="565099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79D9F3B9-EC9F-E9A5-24CF-DE0710744A61}"/>
              </a:ext>
            </a:extLst>
          </p:cNvPr>
          <p:cNvSpPr/>
          <p:nvPr/>
        </p:nvSpPr>
        <p:spPr>
          <a:xfrm rot="16200000">
            <a:off x="7644383" y="5303520"/>
            <a:ext cx="475488" cy="63398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9577C9-10C7-F3AD-5131-FA05BCA9B9CF}"/>
              </a:ext>
            </a:extLst>
          </p:cNvPr>
          <p:cNvSpPr txBox="1"/>
          <p:nvPr/>
        </p:nvSpPr>
        <p:spPr>
          <a:xfrm>
            <a:off x="8199120" y="5620511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Hard negatives, small value to ensure hard negatives</a:t>
            </a:r>
          </a:p>
        </p:txBody>
      </p:sp>
    </p:spTree>
    <p:extLst>
      <p:ext uri="{BB962C8B-B14F-4D97-AF65-F5344CB8AC3E}">
        <p14:creationId xmlns:p14="http://schemas.microsoft.com/office/powerpoint/2010/main" val="1594813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56CD8-3406-9FF5-CDAA-32D446BC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Mixed Query Selection</a:t>
            </a:r>
          </a:p>
        </p:txBody>
      </p:sp>
      <p:pic>
        <p:nvPicPr>
          <p:cNvPr id="4" name="Content Placeholder 3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DD1BCDC5-A6C8-CBD2-04D6-7D4EE13FB9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1533" y="-2184"/>
            <a:ext cx="4710642" cy="3869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47D2E4-AC56-2F13-1D54-B46A2B0B47BB}"/>
              </a:ext>
            </a:extLst>
          </p:cNvPr>
          <p:cNvSpPr txBox="1"/>
          <p:nvPr/>
        </p:nvSpPr>
        <p:spPr>
          <a:xfrm>
            <a:off x="4901184" y="4657344"/>
            <a:ext cx="613257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Select top K encoder features from the last encoder layer</a:t>
            </a:r>
            <a:endParaRPr lang="en-US" b="1" dirty="0"/>
          </a:p>
          <a:p>
            <a:r>
              <a:rPr lang="en-US" b="1" dirty="0">
                <a:ea typeface="+mn-lt"/>
                <a:cs typeface="+mn-lt"/>
              </a:rPr>
              <a:t>as priors to enhance decoder queries</a:t>
            </a:r>
            <a:endParaRPr lang="en-US" b="1" dirty="0"/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4567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2EE37-D225-5AAB-46E3-3B454A93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>
              <a:spcBef>
                <a:spcPts val="1000"/>
              </a:spcBef>
            </a:pPr>
            <a:r>
              <a:rPr lang="en-US" sz="4000">
                <a:solidFill>
                  <a:srgbClr val="FFFFFF"/>
                </a:solidFill>
                <a:latin typeface="Aptos"/>
              </a:rPr>
              <a:t>Look forward twice scheme for box predictions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F077-FCA1-1C41-F34F-C65BACCC2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Basically, box backprogate to the layer that predicts the box and the next layer as well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"Twice"</a:t>
            </a:r>
          </a:p>
        </p:txBody>
      </p:sp>
    </p:spTree>
    <p:extLst>
      <p:ext uri="{BB962C8B-B14F-4D97-AF65-F5344CB8AC3E}">
        <p14:creationId xmlns:p14="http://schemas.microsoft.com/office/powerpoint/2010/main" val="45458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EA74B-F98D-562D-E5FB-A2A77FE3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Grounding DINO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E917-23A4-735F-CFC1-31ECD75F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Referring Expression Comprehension (REC)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Outputs multiple pairs of object boxes and noun phrases for a given (Image, Text) pair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Grounding DINO aims to detect objects from an image specified by an input text</a:t>
            </a:r>
          </a:p>
          <a:p>
            <a:pPr marL="457200" lvl="1" indent="0">
              <a:buNone/>
            </a:pPr>
            <a:endParaRPr lang="en-US" sz="20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</p:txBody>
      </p:sp>
      <p:pic>
        <p:nvPicPr>
          <p:cNvPr id="4" name="Picture 3" descr="Combining Grounding DINO, SAM and Stable-Diffusion for Image Segmentation &amp;  Inpainting with Text Prompts | by Ashok Poudel | GoPenAI">
            <a:extLst>
              <a:ext uri="{FF2B5EF4-FFF2-40B4-BE49-F238E27FC236}">
                <a16:creationId xmlns:a16="http://schemas.microsoft.com/office/drawing/2014/main" id="{F7734D54-6AC7-F05B-0CCF-0E2CF5543F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01" r="19596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16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ross-processing process&#10;&#10;AI-generated content may be incorrect.">
            <a:extLst>
              <a:ext uri="{FF2B5EF4-FFF2-40B4-BE49-F238E27FC236}">
                <a16:creationId xmlns:a16="http://schemas.microsoft.com/office/drawing/2014/main" id="{554E2B22-87AB-C5AD-6EC4-29C2C942C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354" y="457200"/>
            <a:ext cx="8521292" cy="5943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DADBF3-941A-A069-2829-DFF7C204C95B}"/>
                  </a:ext>
                </a:extLst>
              </p14:cNvPr>
              <p14:cNvContentPartPr/>
              <p14:nvPr/>
            </p14:nvContentPartPr>
            <p14:xfrm>
              <a:off x="3940860" y="2819930"/>
              <a:ext cx="1793113" cy="679802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DADBF3-941A-A069-2829-DFF7C204C9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3224" y="2802296"/>
                <a:ext cx="1828745" cy="715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0760D02-47CF-086F-4C86-1FA023436CC7}"/>
                  </a:ext>
                </a:extLst>
              </p14:cNvPr>
              <p14:cNvContentPartPr/>
              <p14:nvPr/>
            </p14:nvContentPartPr>
            <p14:xfrm>
              <a:off x="6147264" y="3547689"/>
              <a:ext cx="4105072" cy="2808018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0760D02-47CF-086F-4C86-1FA023436C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9266" y="3529691"/>
                <a:ext cx="4140709" cy="2843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A9DD576-A3A4-70DD-EC95-3F383EDB21EF}"/>
                  </a:ext>
                </a:extLst>
              </p14:cNvPr>
              <p14:cNvContentPartPr/>
              <p14:nvPr/>
            </p14:nvContentPartPr>
            <p14:xfrm>
              <a:off x="8442341" y="2705115"/>
              <a:ext cx="1448275" cy="559688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A9DD576-A3A4-70DD-EC95-3F383EDB21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24705" y="2687490"/>
                <a:ext cx="1483906" cy="595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080773-9A34-EAD8-7258-83B885CEFFAB}"/>
                  </a:ext>
                </a:extLst>
              </p14:cNvPr>
              <p14:cNvContentPartPr/>
              <p14:nvPr/>
            </p14:nvContentPartPr>
            <p14:xfrm>
              <a:off x="4261383" y="465860"/>
              <a:ext cx="1998425" cy="482808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080773-9A34-EAD8-7258-83B885CEFFA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43386" y="447872"/>
                <a:ext cx="2034060" cy="5184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4085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9CB3-D513-BBB1-BF75-25F7445A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83656-399E-FAAC-FDB0-C6DAA5575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Deformable attention</a:t>
            </a:r>
          </a:p>
          <a:p>
            <a:r>
              <a:rPr lang="en-US" dirty="0"/>
              <a:t>L1 focal loss for </a:t>
            </a:r>
            <a:r>
              <a:rPr lang="en-US" dirty="0" err="1"/>
              <a:t>cls</a:t>
            </a:r>
            <a:r>
              <a:rPr lang="en-US" dirty="0"/>
              <a:t> and GIOU loss for box regression</a:t>
            </a:r>
          </a:p>
          <a:p>
            <a:pPr lvl="1"/>
            <a:r>
              <a:rPr lang="en-US" dirty="0"/>
              <a:t>Contrastive loss </a:t>
            </a:r>
            <a:r>
              <a:rPr lang="en-US" dirty="0">
                <a:ea typeface="+mn-lt"/>
                <a:cs typeface="+mn-lt"/>
              </a:rPr>
              <a:t>between predicted objects and language tokens </a:t>
            </a:r>
          </a:p>
          <a:p>
            <a:r>
              <a:rPr lang="en-US" dirty="0"/>
              <a:t>Language guided query selection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Bipartite matching as usual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C12022-8903-05F7-9D03-189D578AC316}"/>
                  </a:ext>
                </a:extLst>
              </p14:cNvPr>
              <p14:cNvContentPartPr/>
              <p14:nvPr/>
            </p14:nvContentPartPr>
            <p14:xfrm>
              <a:off x="2825496" y="1293971"/>
              <a:ext cx="12192" cy="12192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C12022-8903-05F7-9D03-189D578AC3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5896" y="684371"/>
                <a:ext cx="1219200" cy="12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E79617-9B7E-BE00-E39D-43BFBCBF11CD}"/>
                  </a:ext>
                </a:extLst>
              </p14:cNvPr>
              <p14:cNvContentPartPr/>
              <p14:nvPr/>
            </p14:nvContentPartPr>
            <p14:xfrm>
              <a:off x="2321052" y="1090707"/>
              <a:ext cx="12192" cy="12192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E79617-9B7E-BE00-E39D-43BFBCBF11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1452" y="481107"/>
                <a:ext cx="1219200" cy="12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756C07-4F4A-6B2B-1837-AF7BD669819F}"/>
                  </a:ext>
                </a:extLst>
              </p14:cNvPr>
              <p14:cNvContentPartPr/>
              <p14:nvPr/>
            </p14:nvContentPartPr>
            <p14:xfrm>
              <a:off x="2321052" y="1090707"/>
              <a:ext cx="12192" cy="12192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756C07-4F4A-6B2B-1837-AF7BD66981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1452" y="481107"/>
                <a:ext cx="1219200" cy="12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BDCCDAE-5F94-4E9C-6968-72EC1516F0E0}"/>
                  </a:ext>
                </a:extLst>
              </p14:cNvPr>
              <p14:cNvContentPartPr/>
              <p14:nvPr/>
            </p14:nvContentPartPr>
            <p14:xfrm>
              <a:off x="2321052" y="1090707"/>
              <a:ext cx="12192" cy="12192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BDCCDAE-5F94-4E9C-6968-72EC1516F0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1452" y="481107"/>
                <a:ext cx="1219200" cy="1219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3A9D57EF-5C92-7547-BEE4-318B0D988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7619" y="3998976"/>
            <a:ext cx="56578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41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6912D-293F-5B09-B4A9-AA8A2FB1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Due 9/4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CB0A1-287F-2811-EEA5-79C6E8FF0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Object detection – refer to slides 8/26/2025 class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https://www.kaggle.com/datasets/awsaf49/coco-2017-dataset</a:t>
            </a:r>
            <a:endParaRPr lang="en-US">
              <a:ea typeface="+mn-lt"/>
              <a:cs typeface="+mn-lt"/>
            </a:endParaRPr>
          </a:p>
          <a:p>
            <a:r>
              <a:rPr lang="en-US" dirty="0"/>
              <a:t>Run detection performance comparing (inference only):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Faster R-CNN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DETR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DINO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Grounding DINO (used text prompt at your discretion)</a:t>
            </a:r>
          </a:p>
          <a:p>
            <a:r>
              <a:rPr lang="en-US" dirty="0"/>
              <a:t>Same grading criteria: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Report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Video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806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CAP6411</vt:lpstr>
      <vt:lpstr>Object Detection</vt:lpstr>
      <vt:lpstr>Three Main Evolutions of R-CNN</vt:lpstr>
      <vt:lpstr>R-CNN</vt:lpstr>
      <vt:lpstr>Two Stage R-CNN Training</vt:lpstr>
      <vt:lpstr>R-CNN BBox Regression</vt:lpstr>
      <vt:lpstr>Fast R-CNN</vt:lpstr>
      <vt:lpstr>Combining Stages</vt:lpstr>
      <vt:lpstr>RoI Pooling</vt:lpstr>
      <vt:lpstr>Pretrained Networks</vt:lpstr>
      <vt:lpstr>On Batch Size</vt:lpstr>
      <vt:lpstr>Accelerating Large FC layers</vt:lpstr>
      <vt:lpstr>Faster R-CNN</vt:lpstr>
      <vt:lpstr>Generate Region Proposals</vt:lpstr>
      <vt:lpstr>Training Scheme Options</vt:lpstr>
      <vt:lpstr>Final 4-Steps Training Scheme</vt:lpstr>
      <vt:lpstr>DETR (Detection Transformer)</vt:lpstr>
      <vt:lpstr>Key Ingredients</vt:lpstr>
      <vt:lpstr>Details</vt:lpstr>
      <vt:lpstr>Details</vt:lpstr>
      <vt:lpstr>DETR Architecture</vt:lpstr>
      <vt:lpstr>Training Details</vt:lpstr>
      <vt:lpstr>DINO - DETR with Improved deNoising anchOr boxes</vt:lpstr>
      <vt:lpstr>PowerPoint Presentation</vt:lpstr>
      <vt:lpstr>Contrastive Denoising Training</vt:lpstr>
      <vt:lpstr>Mixed Query Selection</vt:lpstr>
      <vt:lpstr>Look forward twice scheme for box predictions</vt:lpstr>
      <vt:lpstr>Grounding DINO</vt:lpstr>
      <vt:lpstr>PowerPoint Presentation</vt:lpstr>
      <vt:lpstr>Details</vt:lpstr>
      <vt:lpstr>Assignment Due 9/4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225</cp:revision>
  <dcterms:created xsi:type="dcterms:W3CDTF">2025-08-25T01:59:59Z</dcterms:created>
  <dcterms:modified xsi:type="dcterms:W3CDTF">2025-08-25T23:05:56Z</dcterms:modified>
</cp:coreProperties>
</file>